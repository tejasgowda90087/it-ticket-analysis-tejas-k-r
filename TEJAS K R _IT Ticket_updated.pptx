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8288000" cy="10439400"/>
  <p:notesSz cx="6858000" cy="9144000"/>
  <p:defaultTextStyle>
    <a:defPPr>
      <a:defRPr lang="en-US"/>
    </a:defPPr>
    <a:lvl1pPr marL="0" algn="l" defTabSz="682486" rtl="0" eaLnBrk="1" latinLnBrk="0" hangingPunct="1">
      <a:defRPr sz="2687" kern="1200">
        <a:solidFill>
          <a:schemeClr val="tx1"/>
        </a:solidFill>
        <a:latin typeface="+mn-lt"/>
        <a:ea typeface="+mn-ea"/>
        <a:cs typeface="+mn-cs"/>
      </a:defRPr>
    </a:lvl1pPr>
    <a:lvl2pPr marL="682486" algn="l" defTabSz="682486" rtl="0" eaLnBrk="1" latinLnBrk="0" hangingPunct="1">
      <a:defRPr sz="2687" kern="1200">
        <a:solidFill>
          <a:schemeClr val="tx1"/>
        </a:solidFill>
        <a:latin typeface="+mn-lt"/>
        <a:ea typeface="+mn-ea"/>
        <a:cs typeface="+mn-cs"/>
      </a:defRPr>
    </a:lvl2pPr>
    <a:lvl3pPr marL="1364973" algn="l" defTabSz="682486" rtl="0" eaLnBrk="1" latinLnBrk="0" hangingPunct="1">
      <a:defRPr sz="2687" kern="1200">
        <a:solidFill>
          <a:schemeClr val="tx1"/>
        </a:solidFill>
        <a:latin typeface="+mn-lt"/>
        <a:ea typeface="+mn-ea"/>
        <a:cs typeface="+mn-cs"/>
      </a:defRPr>
    </a:lvl3pPr>
    <a:lvl4pPr marL="2047459" algn="l" defTabSz="682486" rtl="0" eaLnBrk="1" latinLnBrk="0" hangingPunct="1">
      <a:defRPr sz="2687" kern="1200">
        <a:solidFill>
          <a:schemeClr val="tx1"/>
        </a:solidFill>
        <a:latin typeface="+mn-lt"/>
        <a:ea typeface="+mn-ea"/>
        <a:cs typeface="+mn-cs"/>
      </a:defRPr>
    </a:lvl4pPr>
    <a:lvl5pPr marL="2729946" algn="l" defTabSz="682486" rtl="0" eaLnBrk="1" latinLnBrk="0" hangingPunct="1">
      <a:defRPr sz="2687" kern="1200">
        <a:solidFill>
          <a:schemeClr val="tx1"/>
        </a:solidFill>
        <a:latin typeface="+mn-lt"/>
        <a:ea typeface="+mn-ea"/>
        <a:cs typeface="+mn-cs"/>
      </a:defRPr>
    </a:lvl5pPr>
    <a:lvl6pPr marL="3412434" algn="l" defTabSz="682486" rtl="0" eaLnBrk="1" latinLnBrk="0" hangingPunct="1">
      <a:defRPr sz="2687" kern="1200">
        <a:solidFill>
          <a:schemeClr val="tx1"/>
        </a:solidFill>
        <a:latin typeface="+mn-lt"/>
        <a:ea typeface="+mn-ea"/>
        <a:cs typeface="+mn-cs"/>
      </a:defRPr>
    </a:lvl6pPr>
    <a:lvl7pPr marL="4094920" algn="l" defTabSz="682486" rtl="0" eaLnBrk="1" latinLnBrk="0" hangingPunct="1">
      <a:defRPr sz="2687" kern="1200">
        <a:solidFill>
          <a:schemeClr val="tx1"/>
        </a:solidFill>
        <a:latin typeface="+mn-lt"/>
        <a:ea typeface="+mn-ea"/>
        <a:cs typeface="+mn-cs"/>
      </a:defRPr>
    </a:lvl7pPr>
    <a:lvl8pPr marL="4777407" algn="l" defTabSz="682486" rtl="0" eaLnBrk="1" latinLnBrk="0" hangingPunct="1">
      <a:defRPr sz="2687" kern="1200">
        <a:solidFill>
          <a:schemeClr val="tx1"/>
        </a:solidFill>
        <a:latin typeface="+mn-lt"/>
        <a:ea typeface="+mn-ea"/>
        <a:cs typeface="+mn-cs"/>
      </a:defRPr>
    </a:lvl8pPr>
    <a:lvl9pPr marL="5459893" algn="l" defTabSz="682486" rtl="0" eaLnBrk="1" latinLnBrk="0" hangingPunct="1">
      <a:defRPr sz="268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89" userDrawn="1">
          <p15:clr>
            <a:srgbClr val="A4A3A4"/>
          </p15:clr>
        </p15:guide>
        <p15:guide id="2" pos="578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6185EF-7DDD-4D0E-B988-2E16ED92119F}" v="1220" dt="2025-11-01T18:31:06.1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51" d="100"/>
          <a:sy n="51" d="100"/>
        </p:scale>
        <p:origin x="926" y="101"/>
      </p:cViewPr>
      <p:guideLst>
        <p:guide orient="horz" pos="3289"/>
        <p:guide pos="578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TEJAS%20GOWDA\Downloads\TEJAS%20K%20R%20(IT%20TICKECT%20ANALYSIS)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TEJAS%20GOWDA\Downloads\TEJAS%20K%20R%20(IT%20TICKECT%20ANALYSIS)_UPDATED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TEJAS%20GOWDA\Downloads\TEJAS%20K%20R%20(IT%20TICKECT%20ANALYSIS)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TEJAS%20GOWDA\Downloads\TEJAS%20K%20R%20(IT%20TICKECT%20ANALYSIS)_UPDATED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TEJAS%20GOWDA\Downloads\TEJAS%20K%20R%20(IT%20TICKECT%20ANALYSIS)_UPDATED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TEJAS%20GOWDA\Downloads\TEJAS%20K%20R%20(IT%20TICKECT%20ANALYSIS)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TEJAS%20GOWDA\Downloads\TEJAS%20K%20R%20(IT%20TICKECT%20ANALYSIS)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TEJAS%20GOWDA\Downloads\TEJAS%20K%20R%20(IT%20TICKECT%20ANALYSIS)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TEJAS%20GOWDA\Downloads\TEJAS%20K%20R%20(IT%20TICKECT%20ANALYSIS)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[TEJAS K R (IT TICKECT ANALYSIS).xlsx]pivot!Count of ticket IDs by time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spc="100" normalizeH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US" sz="1600"/>
              <a:t>Count of ticket ID's by time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spc="100" normalizeH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pattFill prst="ltUpDiag">
            <a:fgClr>
              <a:schemeClr val="accent1"/>
            </a:fgClr>
            <a:bgClr>
              <a:schemeClr val="lt1"/>
            </a:bgClr>
          </a:pattFill>
          <a:ln>
            <a:noFill/>
          </a:ln>
          <a:effectLst>
            <a:outerShdw dist="25400" dir="2700000" algn="tl" rotWithShape="0">
              <a:schemeClr val="accent1"/>
            </a:outerShdw>
          </a:effectLst>
        </c:spPr>
        <c:marker>
          <c:symbol val="circle"/>
          <c:size val="5"/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pattFill prst="ltUpDiag">
            <a:fgClr>
              <a:schemeClr val="accent1"/>
            </a:fgClr>
            <a:bgClr>
              <a:schemeClr val="lt1"/>
            </a:bgClr>
          </a:pattFill>
          <a:ln>
            <a:noFill/>
          </a:ln>
          <a:effectLst>
            <a:outerShdw dist="25400" dir="2700000" algn="tl" rotWithShape="0">
              <a:schemeClr val="accent1"/>
            </a:outerShdw>
          </a:effectLst>
        </c:spPr>
        <c:marker>
          <c:symbol val="circle"/>
          <c:size val="5"/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</c:pivotFmt>
      <c:pivotFmt>
        <c:idx val="2"/>
        <c:spPr>
          <a:pattFill prst="ltUpDiag">
            <a:fgClr>
              <a:schemeClr val="accent1"/>
            </a:fgClr>
            <a:bgClr>
              <a:schemeClr val="lt1"/>
            </a:bgClr>
          </a:pattFill>
          <a:ln>
            <a:noFill/>
          </a:ln>
          <a:effectLst>
            <a:outerShdw dist="25400" dir="2700000" algn="tl" rotWithShape="0">
              <a:schemeClr val="accent1"/>
            </a:outerShdw>
          </a:effectLst>
        </c:spPr>
        <c:marker>
          <c:symbol val="circle"/>
          <c:size val="5"/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</c:pivotFmt>
      <c:pivotFmt>
        <c:idx val="3"/>
        <c:spPr>
          <a:pattFill prst="ltUpDiag">
            <a:fgClr>
              <a:schemeClr val="accent1"/>
            </a:fgClr>
            <a:bgClr>
              <a:schemeClr val="lt1"/>
            </a:bgClr>
          </a:pattFill>
          <a:ln>
            <a:noFill/>
          </a:ln>
          <a:effectLst>
            <a:outerShdw dist="25400" dir="2700000" algn="tl" rotWithShape="0">
              <a:schemeClr val="accent1"/>
            </a:outerShdw>
          </a:effectLst>
        </c:spPr>
        <c:marker>
          <c:symbol val="circle"/>
          <c:size val="5"/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pattFill prst="ltUpDiag">
            <a:fgClr>
              <a:schemeClr val="accent1"/>
            </a:fgClr>
            <a:bgClr>
              <a:schemeClr val="lt1"/>
            </a:bgClr>
          </a:pattFill>
          <a:ln>
            <a:noFill/>
          </a:ln>
          <a:effectLst>
            <a:outerShdw dist="25400" dir="2700000" algn="tl" rotWithShape="0">
              <a:schemeClr val="accent1"/>
            </a:outerShdw>
          </a:effectLst>
        </c:spPr>
        <c:marker>
          <c:symbol val="circle"/>
          <c:size val="5"/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</c:pivotFmt>
      <c:pivotFmt>
        <c:idx val="5"/>
        <c:spPr>
          <a:pattFill prst="ltUpDiag">
            <a:fgClr>
              <a:schemeClr val="accent1"/>
            </a:fgClr>
            <a:bgClr>
              <a:schemeClr val="lt1"/>
            </a:bgClr>
          </a:pattFill>
          <a:ln>
            <a:noFill/>
          </a:ln>
          <a:effectLst>
            <a:outerShdw dist="25400" dir="2700000" algn="tl" rotWithShape="0">
              <a:schemeClr val="accent1"/>
            </a:outerShdw>
          </a:effectLst>
        </c:spPr>
        <c:marker>
          <c:symbol val="circle"/>
          <c:size val="5"/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pattFill prst="ltUpDiag">
            <a:fgClr>
              <a:schemeClr val="accent1"/>
            </a:fgClr>
            <a:bgClr>
              <a:schemeClr val="lt1"/>
            </a:bgClr>
          </a:pattFill>
          <a:ln>
            <a:noFill/>
          </a:ln>
          <a:effectLst>
            <a:outerShdw dist="25400" dir="2700000" algn="tl" rotWithShape="0">
              <a:schemeClr val="accent1"/>
            </a:outerShdw>
          </a:effectLst>
        </c:spPr>
        <c:marker>
          <c:symbol val="circle"/>
          <c:size val="5"/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</c:pivotFmt>
      <c:pivotFmt>
        <c:idx val="7"/>
        <c:spPr>
          <a:pattFill prst="ltUpDiag">
            <a:fgClr>
              <a:schemeClr val="accent1"/>
            </a:fgClr>
            <a:bgClr>
              <a:schemeClr val="lt1"/>
            </a:bgClr>
          </a:pattFill>
          <a:ln>
            <a:noFill/>
          </a:ln>
          <a:effectLst>
            <a:outerShdw dist="25400" dir="2700000" algn="tl" rotWithShape="0">
              <a:schemeClr val="accent1"/>
            </a:outerShdw>
          </a:effectLst>
        </c:spPr>
        <c:marker>
          <c:symbol val="circle"/>
          <c:size val="5"/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pattFill prst="ltUpDiag">
            <a:fgClr>
              <a:schemeClr val="accent1"/>
            </a:fgClr>
            <a:bgClr>
              <a:schemeClr val="lt1"/>
            </a:bgClr>
          </a:pattFill>
          <a:ln>
            <a:noFill/>
          </a:ln>
          <a:effectLst>
            <a:outerShdw dist="25400" dir="2700000" algn="tl" rotWithShape="0">
              <a:schemeClr val="accent1"/>
            </a:outerShdw>
          </a:effectLst>
        </c:spPr>
        <c:marker>
          <c:symbol val="circle"/>
          <c:size val="5"/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</c:pivotFmt>
      <c:pivotFmt>
        <c:idx val="9"/>
        <c:spPr>
          <a:pattFill prst="ltUpDiag">
            <a:fgClr>
              <a:schemeClr val="accent1"/>
            </a:fgClr>
            <a:bgClr>
              <a:schemeClr val="lt1"/>
            </a:bgClr>
          </a:pattFill>
          <a:ln>
            <a:noFill/>
          </a:ln>
          <a:effectLst>
            <a:outerShdw dist="25400" dir="2700000" algn="tl" rotWithShape="0">
              <a:schemeClr val="accent1"/>
            </a:outerShdw>
          </a:effectLst>
        </c:spPr>
        <c:marker>
          <c:symbol val="circle"/>
          <c:size val="5"/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pattFill prst="ltUpDiag">
            <a:fgClr>
              <a:schemeClr val="accent1"/>
            </a:fgClr>
            <a:bgClr>
              <a:schemeClr val="lt1"/>
            </a:bgClr>
          </a:pattFill>
          <a:ln>
            <a:noFill/>
          </a:ln>
          <a:effectLst>
            <a:outerShdw dist="25400" dir="2700000" algn="tl" rotWithShape="0">
              <a:schemeClr val="accent1"/>
            </a:outerShdw>
          </a:effectLst>
        </c:spPr>
        <c:marker>
          <c:symbol val="circle"/>
          <c:size val="5"/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pivot!$B$2</c:f>
              <c:strCache>
                <c:ptCount val="1"/>
                <c:pt idx="0">
                  <c:v>Total</c:v>
                </c:pt>
              </c:strCache>
            </c:strRef>
          </c:tx>
          <c:spPr>
            <a:ln w="34925" cap="rnd">
              <a:solidFill>
                <a:srgbClr val="FF0000"/>
              </a:solidFill>
              <a:round/>
            </a:ln>
            <a:effectLst>
              <a:outerShdw dist="25400" dir="2700000" algn="tl" rotWithShape="0">
                <a:schemeClr val="accent1"/>
              </a:outerShdw>
            </a:effectLst>
          </c:spPr>
          <c:marker>
            <c:symbol val="circle"/>
            <c:size val="5"/>
            <c:spPr>
              <a:solidFill>
                <a:srgbClr val="FF0000"/>
              </a:solidFill>
              <a:ln w="22225">
                <a:solidFill>
                  <a:schemeClr val="lt1"/>
                </a:solidFill>
                <a:round/>
              </a:ln>
              <a:effectLst/>
            </c:spPr>
          </c:marker>
          <c:dPt>
            <c:idx val="2"/>
            <c:marker>
              <c:symbol val="circle"/>
              <c:size val="5"/>
              <c:spPr>
                <a:solidFill>
                  <a:srgbClr val="FF0000"/>
                </a:solidFill>
                <a:ln w="22225">
                  <a:solidFill>
                    <a:schemeClr val="lt1"/>
                  </a:solidFill>
                  <a:round/>
                </a:ln>
                <a:effectLst/>
              </c:spPr>
            </c:marker>
            <c:bubble3D val="0"/>
            <c:spPr>
              <a:ln w="34925" cap="rnd">
                <a:solidFill>
                  <a:srgbClr val="FF0000"/>
                </a:solidFill>
                <a:round/>
              </a:ln>
              <a:effectLst>
                <a:outerShdw dist="25400" dir="2700000" algn="tl" rotWithShape="0">
                  <a:schemeClr val="accent1"/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487C-415D-98B8-3BE0DB1998F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pivot!$A$3:$A$7</c:f>
              <c:strCache>
                <c:ptCount val="5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</c:strCache>
            </c:strRef>
          </c:cat>
          <c:val>
            <c:numRef>
              <c:f>pivot!$B$3:$B$7</c:f>
              <c:numCache>
                <c:formatCode>General</c:formatCode>
                <c:ptCount val="5"/>
                <c:pt idx="0">
                  <c:v>13051</c:v>
                </c:pt>
                <c:pt idx="1">
                  <c:v>14915</c:v>
                </c:pt>
                <c:pt idx="2">
                  <c:v>18954</c:v>
                </c:pt>
                <c:pt idx="3">
                  <c:v>21490</c:v>
                </c:pt>
                <c:pt idx="4">
                  <c:v>29088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87C-415D-98B8-3BE0DB1998FF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rnd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round/>
            </a:ln>
            <a:effectLst/>
          </c:spPr>
        </c:dropLines>
        <c:marker val="1"/>
        <c:smooth val="0"/>
        <c:axId val="1981697807"/>
        <c:axId val="1981698287"/>
      </c:lineChart>
      <c:catAx>
        <c:axId val="19816978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spc="1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1698287"/>
        <c:crosses val="autoZero"/>
        <c:auto val="1"/>
        <c:lblAlgn val="ctr"/>
        <c:lblOffset val="100"/>
        <c:noMultiLvlLbl val="0"/>
      </c:catAx>
      <c:valAx>
        <c:axId val="198169828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169780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1">
        <a:lumMod val="40000"/>
        <a:lumOff val="60000"/>
      </a:schemeClr>
    </a:solidFill>
    <a:ln w="12700" cap="flat" cmpd="sng" algn="ctr">
      <a:solidFill>
        <a:schemeClr val="accent1"/>
      </a:solidFill>
      <a:prstDash val="solid"/>
      <a:round/>
    </a:ln>
    <a:effectLst/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[TEJAS K R (IT TICKECT ANALYSIS)_UPDATED.xlsx]pivot!Count of tickets by request category</c:name>
    <c:fmtId val="43"/>
  </c:pivotSource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sz="168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 dirty="0"/>
              <a:t>TICKETS BY REQUEST CATEGORY</a:t>
            </a:r>
          </a:p>
        </c:rich>
      </c:tx>
      <c:layout>
        <c:manualLayout>
          <c:xMode val="edge"/>
          <c:yMode val="edge"/>
          <c:x val="0.28801229594231503"/>
          <c:y val="4.984112116657826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sz="168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tx>
            <c:rich>
              <a:bodyPr/>
              <a:lstStyle/>
              <a:p>
                <a:r>
                  <a:rPr lang="en-US" baseline="0"/>
                  <a:t> </a:t>
                </a:r>
                <a:fld id="{A623F726-6B28-421D-822B-DC089DFA64B1}" type="PERCENTAGE">
                  <a:rPr lang="en-US" baseline="0"/>
                  <a:pPr/>
                  <a:t>[PERCENTAGE]</a:t>
                </a:fld>
                <a:endParaRPr lang="en-US" baseline="0"/>
              </a:p>
            </c:rich>
          </c:tx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2"/>
        <c:dLbl>
          <c:idx val="0"/>
          <c:tx>
            <c:rich>
              <a:bodyPr/>
              <a:lstStyle/>
              <a:p>
                <a:fld id="{DD26F744-942B-49EA-947A-C20E1DCD0E5C}" type="PERCENTAGE">
                  <a:rPr lang="en-US" baseline="0"/>
                  <a:pPr/>
                  <a:t>[PERCENTAGE]</a:t>
                </a:fld>
                <a:endParaRPr lang="en-IN"/>
              </a:p>
            </c:rich>
          </c:tx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3"/>
        <c:dLbl>
          <c:idx val="0"/>
          <c:tx>
            <c:rich>
              <a:bodyPr/>
              <a:lstStyle/>
              <a:p>
                <a:r>
                  <a:rPr lang="en-US" baseline="0"/>
                  <a:t> </a:t>
                </a:r>
                <a:fld id="{0C80AB41-ACFA-4B7B-B622-4FBAA7300A8B}" type="PERCENTAGE">
                  <a:rPr lang="en-US" baseline="0"/>
                  <a:pPr/>
                  <a:t>[PERCENTAGE]</a:t>
                </a:fld>
                <a:endParaRPr lang="en-US" baseline="0"/>
              </a:p>
            </c:rich>
          </c:tx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4"/>
        <c:dLbl>
          <c:idx val="0"/>
          <c:tx>
            <c:rich>
              <a:bodyPr/>
              <a:lstStyle/>
              <a:p>
                <a:r>
                  <a:rPr lang="en-US" baseline="0"/>
                  <a:t> </a:t>
                </a:r>
                <a:fld id="{22B8AA92-1F58-46B9-9D76-AEFEA3E87901}" type="PERCENTAGE">
                  <a:rPr lang="en-US" baseline="0"/>
                  <a:pPr/>
                  <a:t>[PERCENTAGE]</a:t>
                </a:fld>
                <a:endParaRPr lang="en-US" baseline="0"/>
              </a:p>
            </c:rich>
          </c:tx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5"/>
        <c:dLbl>
          <c:idx val="0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dLbl>
          <c:idx val="0"/>
          <c:tx>
            <c:rich>
              <a:bodyPr/>
              <a:lstStyle/>
              <a:p>
                <a:fld id="{DD26F744-942B-49EA-947A-C20E1DCD0E5C}" type="PERCENTAGE">
                  <a:rPr lang="en-US" baseline="0"/>
                  <a:pPr/>
                  <a:t>[PERCENTAGE]</a:t>
                </a:fld>
                <a:endParaRPr lang="en-IN"/>
              </a:p>
            </c:rich>
          </c:tx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7"/>
        <c:dLbl>
          <c:idx val="0"/>
          <c:tx>
            <c:rich>
              <a:bodyPr/>
              <a:lstStyle/>
              <a:p>
                <a:r>
                  <a:rPr lang="en-US" baseline="0"/>
                  <a:t> </a:t>
                </a:r>
                <a:fld id="{A623F726-6B28-421D-822B-DC089DFA64B1}" type="PERCENTAGE">
                  <a:rPr lang="en-US" baseline="0"/>
                  <a:pPr/>
                  <a:t>[PERCENTAGE]</a:t>
                </a:fld>
                <a:endParaRPr lang="en-US" baseline="0"/>
              </a:p>
            </c:rich>
          </c:tx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8"/>
        <c:dLbl>
          <c:idx val="0"/>
          <c:tx>
            <c:rich>
              <a:bodyPr/>
              <a:lstStyle/>
              <a:p>
                <a:r>
                  <a:rPr lang="en-US" baseline="0"/>
                  <a:t> </a:t>
                </a:r>
                <a:fld id="{22B8AA92-1F58-46B9-9D76-AEFEA3E87901}" type="PERCENTAGE">
                  <a:rPr lang="en-US" baseline="0"/>
                  <a:pPr/>
                  <a:t>[PERCENTAGE]</a:t>
                </a:fld>
                <a:endParaRPr lang="en-US" baseline="0"/>
              </a:p>
            </c:rich>
          </c:tx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9"/>
        <c:dLbl>
          <c:idx val="0"/>
          <c:tx>
            <c:rich>
              <a:bodyPr/>
              <a:lstStyle/>
              <a:p>
                <a:r>
                  <a:rPr lang="en-US" baseline="0"/>
                  <a:t> </a:t>
                </a:r>
                <a:fld id="{0C80AB41-ACFA-4B7B-B622-4FBAA7300A8B}" type="PERCENTAGE">
                  <a:rPr lang="en-US" baseline="0"/>
                  <a:pPr/>
                  <a:t>[PERCENTAGE]</a:t>
                </a:fld>
                <a:endParaRPr lang="en-US" baseline="0"/>
              </a:p>
            </c:rich>
          </c:tx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10"/>
        <c:spPr>
          <a:solidFill>
            <a:schemeClr val="accent2"/>
          </a:solidFill>
          <a:ln>
            <a:noFill/>
          </a:ln>
          <a:effectLst>
            <a:innerShdw blurRad="63500" dist="50800" dir="81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/>
          </a:scene3d>
        </c:spPr>
        <c:marker>
          <c:symbol val="none"/>
        </c:marker>
        <c:dLbl>
          <c:idx val="0"/>
          <c:spPr>
            <a:pattFill prst="pct75">
              <a:fgClr>
                <a:srgbClr val="000000">
                  <a:lumMod val="75000"/>
                  <a:lumOff val="25000"/>
                </a:srgbClr>
              </a:fgClr>
              <a:bgClr>
                <a:srgbClr val="000000">
                  <a:lumMod val="65000"/>
                  <a:lumOff val="35000"/>
                </a:srgb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2"/>
          </a:solidFill>
          <a:ln>
            <a:noFill/>
          </a:ln>
          <a:effectLst>
            <a:innerShdw blurRad="63500" dist="50800" dir="81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/>
          </a:scene3d>
        </c:spPr>
        <c:dLbl>
          <c:idx val="0"/>
          <c:layout>
            <c:manualLayout>
              <c:x val="1.859048957395568E-2"/>
              <c:y val="-1.2165450121654502E-2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fld id="{DD26F744-942B-49EA-947A-C20E1DCD0E5C}" type="PERCENTAGE">
                  <a:rPr lang="en-US"/>
                  <a:pPr>
                    <a:defRPr sz="1000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IN"/>
              </a:p>
            </c:rich>
          </c:tx>
          <c:spPr>
            <a:pattFill prst="pct75">
              <a:fgClr>
                <a:srgbClr val="000000">
                  <a:lumMod val="75000"/>
                  <a:lumOff val="25000"/>
                </a:srgbClr>
              </a:fgClr>
              <a:bgClr>
                <a:srgbClr val="000000">
                  <a:lumMod val="65000"/>
                  <a:lumOff val="35000"/>
                </a:srgb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12"/>
        <c:spPr>
          <a:solidFill>
            <a:schemeClr val="accent2"/>
          </a:solidFill>
          <a:ln>
            <a:noFill/>
          </a:ln>
          <a:effectLst>
            <a:innerShdw blurRad="63500" dist="50800" dir="81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/>
          </a:scene3d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 </a:t>
                </a:r>
                <a:fld id="{A623F726-6B28-421D-822B-DC089DFA64B1}" type="PERCENTAGE">
                  <a:rPr lang="en-US"/>
                  <a:pPr>
                    <a:defRPr sz="1000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US"/>
              </a:p>
            </c:rich>
          </c:tx>
          <c:spPr>
            <a:pattFill prst="pct75">
              <a:fgClr>
                <a:srgbClr val="000000">
                  <a:lumMod val="75000"/>
                  <a:lumOff val="25000"/>
                </a:srgbClr>
              </a:fgClr>
              <a:bgClr>
                <a:srgbClr val="000000">
                  <a:lumMod val="65000"/>
                  <a:lumOff val="35000"/>
                </a:srgb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13"/>
        <c:spPr>
          <a:solidFill>
            <a:schemeClr val="accent2"/>
          </a:solidFill>
          <a:ln>
            <a:noFill/>
          </a:ln>
          <a:effectLst>
            <a:innerShdw blurRad="63500" dist="50800" dir="81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/>
          </a:scene3d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 </a:t>
                </a:r>
                <a:fld id="{22B8AA92-1F58-46B9-9D76-AEFEA3E87901}" type="PERCENTAGE">
                  <a:rPr lang="en-US"/>
                  <a:pPr>
                    <a:defRPr sz="1000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US"/>
              </a:p>
            </c:rich>
          </c:tx>
          <c:spPr>
            <a:pattFill prst="pct75">
              <a:fgClr>
                <a:srgbClr val="000000">
                  <a:lumMod val="75000"/>
                  <a:lumOff val="25000"/>
                </a:srgbClr>
              </a:fgClr>
              <a:bgClr>
                <a:srgbClr val="000000">
                  <a:lumMod val="65000"/>
                  <a:lumOff val="35000"/>
                </a:srgb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14"/>
        <c:spPr>
          <a:solidFill>
            <a:schemeClr val="accent2"/>
          </a:solidFill>
          <a:ln>
            <a:noFill/>
          </a:ln>
          <a:effectLst>
            <a:innerShdw blurRad="63500" dist="50800" dir="81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/>
          </a:scene3d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 </a:t>
                </a:r>
                <a:fld id="{0C80AB41-ACFA-4B7B-B622-4FBAA7300A8B}" type="PERCENTAGE">
                  <a:rPr lang="en-US"/>
                  <a:pPr>
                    <a:defRPr sz="1000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US"/>
              </a:p>
            </c:rich>
          </c:tx>
          <c:spPr>
            <a:pattFill prst="pct75">
              <a:fgClr>
                <a:srgbClr val="000000">
                  <a:lumMod val="75000"/>
                  <a:lumOff val="25000"/>
                </a:srgbClr>
              </a:fgClr>
              <a:bgClr>
                <a:srgbClr val="000000">
                  <a:lumMod val="65000"/>
                  <a:lumOff val="35000"/>
                </a:srgb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15"/>
        <c:spPr>
          <a:solidFill>
            <a:schemeClr val="accent2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c:spPr>
        <c:marker>
          <c:symbol val="none"/>
        </c:marker>
        <c:dLbl>
          <c:idx val="0"/>
          <c:spPr>
            <a:pattFill prst="pct75">
              <a:fgClr>
                <a:srgbClr val="000000">
                  <a:lumMod val="75000"/>
                  <a:lumOff val="25000"/>
                </a:srgbClr>
              </a:fgClr>
              <a:bgClr>
                <a:srgbClr val="000000">
                  <a:lumMod val="65000"/>
                  <a:lumOff val="35000"/>
                </a:srgb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2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c:spPr>
      </c:pivotFmt>
      <c:pivotFmt>
        <c:idx val="17"/>
        <c:spPr>
          <a:solidFill>
            <a:schemeClr val="accent2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c:spPr>
      </c:pivotFmt>
      <c:pivotFmt>
        <c:idx val="18"/>
        <c:spPr>
          <a:solidFill>
            <a:schemeClr val="accent2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c:spPr>
      </c:pivotFmt>
      <c:pivotFmt>
        <c:idx val="19"/>
        <c:spPr>
          <a:solidFill>
            <a:schemeClr val="accent2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c:spPr>
      </c:pivotFmt>
      <c:pivotFmt>
        <c:idx val="20"/>
        <c:spPr>
          <a:solidFill>
            <a:schemeClr val="accent2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c:spPr>
        <c:marker>
          <c:symbol val="none"/>
        </c:marker>
        <c:dLbl>
          <c:idx val="0"/>
          <c:spPr>
            <a:pattFill prst="pct75">
              <a:fgClr>
                <a:srgbClr val="000000">
                  <a:lumMod val="75000"/>
                  <a:lumOff val="25000"/>
                </a:srgbClr>
              </a:fgClr>
              <a:bgClr>
                <a:srgbClr val="000000">
                  <a:lumMod val="65000"/>
                  <a:lumOff val="35000"/>
                </a:srgb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2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c:spPr>
      </c:pivotFmt>
      <c:pivotFmt>
        <c:idx val="22"/>
        <c:spPr>
          <a:solidFill>
            <a:schemeClr val="accent2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c:spPr>
      </c:pivotFmt>
      <c:pivotFmt>
        <c:idx val="23"/>
        <c:spPr>
          <a:solidFill>
            <a:schemeClr val="accent2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c:spPr>
      </c:pivotFmt>
      <c:pivotFmt>
        <c:idx val="24"/>
        <c:spPr>
          <a:solidFill>
            <a:schemeClr val="accent2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c:spPr>
      </c:pivotFmt>
      <c:pivotFmt>
        <c:idx val="25"/>
        <c:spPr>
          <a:solidFill>
            <a:schemeClr val="accent2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c:spPr>
        <c:marker>
          <c:symbol val="none"/>
        </c:marker>
        <c:dLbl>
          <c:idx val="0"/>
          <c:spPr>
            <a:pattFill prst="pct75">
              <a:fgClr>
                <a:srgbClr val="000000">
                  <a:lumMod val="75000"/>
                  <a:lumOff val="25000"/>
                </a:srgbClr>
              </a:fgClr>
              <a:bgClr>
                <a:srgbClr val="000000">
                  <a:lumMod val="65000"/>
                  <a:lumOff val="35000"/>
                </a:srgb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2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c:spPr>
      </c:pivotFmt>
      <c:pivotFmt>
        <c:idx val="27"/>
        <c:spPr>
          <a:solidFill>
            <a:schemeClr val="accent2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c:spPr>
      </c:pivotFmt>
      <c:pivotFmt>
        <c:idx val="28"/>
        <c:spPr>
          <a:solidFill>
            <a:schemeClr val="accent2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c:spPr>
      </c:pivotFmt>
      <c:pivotFmt>
        <c:idx val="29"/>
        <c:spPr>
          <a:solidFill>
            <a:schemeClr val="accent2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c:spPr>
      </c:pivotFmt>
    </c:pivotFmts>
    <c:plotArea>
      <c:layout>
        <c:manualLayout>
          <c:layoutTarget val="inner"/>
          <c:xMode val="edge"/>
          <c:yMode val="edge"/>
          <c:x val="0.28903330196741589"/>
          <c:y val="0.16198306901808721"/>
          <c:w val="0.48118079943470016"/>
          <c:h val="0.64900010258752205"/>
        </c:manualLayout>
      </c:layout>
      <c:doughnutChart>
        <c:varyColors val="1"/>
        <c:ser>
          <c:idx val="0"/>
          <c:order val="0"/>
          <c:tx>
            <c:strRef>
              <c:f>pivot!$F$2</c:f>
              <c:strCache>
                <c:ptCount val="1"/>
                <c:pt idx="0">
                  <c:v>Total</c:v>
                </c:pt>
              </c:strCache>
            </c:strRef>
          </c:tx>
          <c:spPr>
            <a:effectLst>
              <a:innerShdw blurRad="63500" dist="50800" dir="5400000">
                <a:prstClr val="black">
                  <a:alpha val="50000"/>
                </a:prstClr>
              </a:innerShdw>
            </a:effectLst>
          </c:spPr>
          <c:dPt>
            <c:idx val="0"/>
            <c:bubble3D val="0"/>
            <c:spPr>
              <a:solidFill>
                <a:schemeClr val="accent2"/>
              </a:solidFill>
              <a:ln>
                <a:noFill/>
              </a:ln>
              <a:effectLst>
                <a:innerShdw blurRad="63500" dist="50800" dir="5400000">
                  <a:prstClr val="black">
                    <a:alpha val="50000"/>
                  </a:prstClr>
                </a:innerShdw>
              </a:effectLst>
            </c:spPr>
            <c:extLst>
              <c:ext xmlns:c16="http://schemas.microsoft.com/office/drawing/2014/chart" uri="{C3380CC4-5D6E-409C-BE32-E72D297353CC}">
                <c16:uniqueId val="{00000001-72E8-4E3F-86DD-6B8BB5C600DD}"/>
              </c:ext>
            </c:extLst>
          </c:dPt>
          <c:dPt>
            <c:idx val="1"/>
            <c:bubble3D val="0"/>
            <c:spPr>
              <a:solidFill>
                <a:schemeClr val="accent4"/>
              </a:solidFill>
              <a:ln>
                <a:noFill/>
              </a:ln>
              <a:effectLst>
                <a:innerShdw blurRad="63500" dist="50800" dir="5400000">
                  <a:prstClr val="black">
                    <a:alpha val="50000"/>
                  </a:prstClr>
                </a:innerShdw>
              </a:effectLst>
            </c:spPr>
            <c:extLst>
              <c:ext xmlns:c16="http://schemas.microsoft.com/office/drawing/2014/chart" uri="{C3380CC4-5D6E-409C-BE32-E72D297353CC}">
                <c16:uniqueId val="{00000003-72E8-4E3F-86DD-6B8BB5C600DD}"/>
              </c:ext>
            </c:extLst>
          </c:dPt>
          <c:dPt>
            <c:idx val="2"/>
            <c:bubble3D val="0"/>
            <c:spPr>
              <a:solidFill>
                <a:schemeClr val="accent6"/>
              </a:solidFill>
              <a:ln>
                <a:noFill/>
              </a:ln>
              <a:effectLst>
                <a:innerShdw blurRad="63500" dist="50800" dir="5400000">
                  <a:prstClr val="black">
                    <a:alpha val="50000"/>
                  </a:prstClr>
                </a:innerShdw>
              </a:effectLst>
            </c:spPr>
            <c:extLst>
              <c:ext xmlns:c16="http://schemas.microsoft.com/office/drawing/2014/chart" uri="{C3380CC4-5D6E-409C-BE32-E72D297353CC}">
                <c16:uniqueId val="{00000005-72E8-4E3F-86DD-6B8BB5C600DD}"/>
              </c:ext>
            </c:extLst>
          </c:dPt>
          <c:dPt>
            <c:idx val="3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>
                <a:innerShdw blurRad="63500" dist="50800" dir="5400000">
                  <a:prstClr val="black">
                    <a:alpha val="50000"/>
                  </a:prstClr>
                </a:innerShdw>
              </a:effectLst>
            </c:spPr>
            <c:extLst>
              <c:ext xmlns:c16="http://schemas.microsoft.com/office/drawing/2014/chart" uri="{C3380CC4-5D6E-409C-BE32-E72D297353CC}">
                <c16:uniqueId val="{00000007-72E8-4E3F-86DD-6B8BB5C600DD}"/>
              </c:ext>
            </c:extLst>
          </c:dPt>
          <c:dLbls>
            <c:spPr>
              <a:pattFill prst="pct75">
                <a:fgClr>
                  <a:srgbClr val="000000">
                    <a:lumMod val="75000"/>
                    <a:lumOff val="25000"/>
                  </a:srgbClr>
                </a:fgClr>
                <a:bgClr>
                  <a:srgbClr val="000000">
                    <a:lumMod val="65000"/>
                    <a:lumOff val="35000"/>
                  </a:srgb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pivot!$E$3:$E$6</c:f>
              <c:strCache>
                <c:ptCount val="4"/>
                <c:pt idx="0">
                  <c:v>Hardware</c:v>
                </c:pt>
                <c:pt idx="1">
                  <c:v>Login Access</c:v>
                </c:pt>
                <c:pt idx="2">
                  <c:v>Software</c:v>
                </c:pt>
                <c:pt idx="3">
                  <c:v>System</c:v>
                </c:pt>
              </c:strCache>
            </c:strRef>
          </c:cat>
          <c:val>
            <c:numRef>
              <c:f>pivot!$F$3:$F$6</c:f>
              <c:numCache>
                <c:formatCode>General</c:formatCode>
                <c:ptCount val="4"/>
                <c:pt idx="0">
                  <c:v>9733</c:v>
                </c:pt>
                <c:pt idx="1">
                  <c:v>29193</c:v>
                </c:pt>
                <c:pt idx="2">
                  <c:v>19570</c:v>
                </c:pt>
                <c:pt idx="3">
                  <c:v>39002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2E8-4E3F-86DD-6B8BB5C600D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>
          <a:innerShdw blurRad="63500" dist="50800" dir="5400000">
            <a:prstClr val="black">
              <a:alpha val="50000"/>
            </a:prstClr>
          </a:innerShdw>
        </a:effectLst>
      </c:spPr>
    </c:plotArea>
    <c:legend>
      <c:legendPos val="b"/>
      <c:layout>
        <c:manualLayout>
          <c:xMode val="edge"/>
          <c:yMode val="edge"/>
          <c:x val="8.5488716085691335E-2"/>
          <c:y val="0.86034473819774682"/>
          <c:w val="0.86018255291098311"/>
          <c:h val="9.412515457071533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1">
        <a:lumMod val="40000"/>
        <a:lumOff val="60000"/>
      </a:schemeClr>
    </a:solidFill>
    <a:ln w="9525" cap="flat" cmpd="sng" algn="ctr">
      <a:noFill/>
      <a:round/>
    </a:ln>
    <a:effectLst/>
  </c:spPr>
  <c:txPr>
    <a:bodyPr/>
    <a:lstStyle/>
    <a:p>
      <a:pPr>
        <a:defRPr sz="1400"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[TEJAS K R (IT TICKECT ANALYSIS).xlsx]pivot!Ticket Count by severity rate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US" sz="1600" b="1" i="0" u="none" strike="noStrike" kern="1200" cap="all" baseline="0">
                <a:solidFill>
                  <a:schemeClr val="bg1"/>
                </a:solidFill>
                <a:effectLst/>
              </a:rPr>
              <a:t>Ticket count by severity rate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>
                <a:solidFill>
                  <a:schemeClr val="bg1"/>
                </a:solidFill>
              </a:defRPr>
            </a:pPr>
            <a:endParaRPr lang="en-US" sz="1600">
              <a:solidFill>
                <a:schemeClr val="bg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600" b="0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/>
          </a:solidFill>
          <a:ln>
            <a:noFill/>
          </a:ln>
          <a:effectLst>
            <a:innerShdw blurRad="114300">
              <a:prstClr val="black"/>
            </a:innerShdw>
          </a:effectLst>
          <a:scene3d>
            <a:camera prst="orthographicFront"/>
            <a:lightRig rig="threePt" dir="t"/>
          </a:scene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2"/>
          </a:solidFill>
          <a:ln>
            <a:noFill/>
          </a:ln>
          <a:effectLst>
            <a:innerShdw blurRad="114300">
              <a:prstClr val="black"/>
            </a:innerShdw>
          </a:effectLst>
          <a:scene3d>
            <a:camera prst="orthographicFront"/>
            <a:lightRig rig="threePt" dir="t"/>
          </a:scene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2"/>
          </a:solidFill>
          <a:ln>
            <a:noFill/>
          </a:ln>
          <a:effectLst>
            <a:innerShdw blurRad="114300">
              <a:prstClr val="black"/>
            </a:innerShdw>
          </a:effectLst>
          <a:scene3d>
            <a:camera prst="orthographicFront"/>
            <a:lightRig rig="threePt" dir="t"/>
          </a:scene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pivot!$F$11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>
              <a:innerShdw blurRad="114300">
                <a:prstClr val="black"/>
              </a:innerShdw>
            </a:effectLst>
            <a:scene3d>
              <a:camera prst="orthographicFront"/>
              <a:lightRig rig="threePt" dir="t"/>
            </a:scene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pivot!$E$12:$E$16</c:f>
              <c:strCach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strCache>
            </c:strRef>
          </c:cat>
          <c:val>
            <c:numRef>
              <c:f>pivot!$F$12:$F$16</c:f>
              <c:numCache>
                <c:formatCode>General</c:formatCode>
                <c:ptCount val="5"/>
                <c:pt idx="0">
                  <c:v>356</c:v>
                </c:pt>
                <c:pt idx="1">
                  <c:v>2258</c:v>
                </c:pt>
                <c:pt idx="2">
                  <c:v>88656</c:v>
                </c:pt>
                <c:pt idx="3">
                  <c:v>4836</c:v>
                </c:pt>
                <c:pt idx="4">
                  <c:v>1392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26-4368-AE70-DF0856B0D38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8"/>
        <c:overlap val="3"/>
        <c:axId val="122021695"/>
        <c:axId val="122019295"/>
      </c:barChart>
      <c:catAx>
        <c:axId val="1220216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019295"/>
        <c:crosses val="autoZero"/>
        <c:auto val="1"/>
        <c:lblAlgn val="ctr"/>
        <c:lblOffset val="100"/>
        <c:noMultiLvlLbl val="0"/>
      </c:catAx>
      <c:valAx>
        <c:axId val="12201929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0216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1">
        <a:lumMod val="40000"/>
        <a:lumOff val="60000"/>
      </a:schemeClr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[TEJAS K R (IT TICKECT ANALYSIS)_UPDATED.xlsx]pivot! Ticket by priority</c:name>
    <c:fmtId val="2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pPr>
            <a:r>
              <a:rPr lang="en-US" sz="1600">
                <a:solidFill>
                  <a:schemeClr val="bg2"/>
                </a:solidFill>
              </a:rPr>
              <a:t>TICKET COUNT BY PRIORITY</a:t>
            </a:r>
          </a:p>
        </c:rich>
      </c:tx>
      <c:layout>
        <c:manualLayout>
          <c:xMode val="edge"/>
          <c:yMode val="edge"/>
          <c:x val="0.28834702047987315"/>
          <c:y val="0.1124858311648356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bg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c:spPr>
        <c:marker>
          <c:symbol val="circle"/>
          <c:size val="6"/>
        </c:marker>
        <c:dLbl>
          <c:idx val="0"/>
          <c:spPr>
            <a:pattFill prst="pct75">
              <a:fgClr>
                <a:srgbClr val="000000">
                  <a:lumMod val="75000"/>
                  <a:lumOff val="25000"/>
                </a:srgbClr>
              </a:fgClr>
              <a:bgClr>
                <a:srgbClr val="000000">
                  <a:lumMod val="65000"/>
                  <a:lumOff val="35000"/>
                </a:srgb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4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c:spPr>
        <c:dLbl>
          <c:idx val="0"/>
          <c:spPr>
            <a:pattFill prst="pct75">
              <a:fgClr>
                <a:srgbClr val="000000">
                  <a:lumMod val="75000"/>
                  <a:lumOff val="25000"/>
                </a:srgbClr>
              </a:fgClr>
              <a:bgClr>
                <a:srgbClr val="000000">
                  <a:lumMod val="65000"/>
                  <a:lumOff val="35000"/>
                </a:srgb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c:spPr>
        <c:dLbl>
          <c:idx val="0"/>
          <c:spPr>
            <a:pattFill prst="pct75">
              <a:fgClr>
                <a:srgbClr val="000000">
                  <a:lumMod val="75000"/>
                  <a:lumOff val="25000"/>
                </a:srgbClr>
              </a:fgClr>
              <a:bgClr>
                <a:srgbClr val="000000">
                  <a:lumMod val="65000"/>
                  <a:lumOff val="35000"/>
                </a:srgb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2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c:spPr>
        <c:dLbl>
          <c:idx val="0"/>
          <c:spPr>
            <a:pattFill prst="pct75">
              <a:fgClr>
                <a:srgbClr val="000000">
                  <a:lumMod val="75000"/>
                  <a:lumOff val="25000"/>
                </a:srgbClr>
              </a:fgClr>
              <a:bgClr>
                <a:srgbClr val="000000">
                  <a:lumMod val="65000"/>
                  <a:lumOff val="35000"/>
                </a:srgb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3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c:spPr>
        <c:dLbl>
          <c:idx val="0"/>
          <c:spPr>
            <a:pattFill prst="pct75">
              <a:fgClr>
                <a:srgbClr val="000000">
                  <a:lumMod val="75000"/>
                  <a:lumOff val="25000"/>
                </a:srgbClr>
              </a:fgClr>
              <a:bgClr>
                <a:srgbClr val="000000">
                  <a:lumMod val="65000"/>
                  <a:lumOff val="35000"/>
                </a:srgb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c:spPr>
        <c:marker>
          <c:symbol val="none"/>
        </c:marker>
        <c:dLbl>
          <c:idx val="0"/>
          <c:spPr>
            <a:pattFill prst="pct75">
              <a:fgClr>
                <a:srgbClr val="000000">
                  <a:lumMod val="75000"/>
                  <a:lumOff val="25000"/>
                </a:srgbClr>
              </a:fgClr>
              <a:bgClr>
                <a:srgbClr val="000000">
                  <a:lumMod val="65000"/>
                  <a:lumOff val="35000"/>
                </a:srgb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c:spPr>
        <c:dLbl>
          <c:idx val="0"/>
          <c:spPr>
            <a:pattFill prst="pct75">
              <a:fgClr>
                <a:srgbClr val="000000">
                  <a:lumMod val="75000"/>
                  <a:lumOff val="25000"/>
                </a:srgbClr>
              </a:fgClr>
              <a:bgClr>
                <a:srgbClr val="000000">
                  <a:lumMod val="65000"/>
                  <a:lumOff val="35000"/>
                </a:srgb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c:spPr>
        <c:dLbl>
          <c:idx val="0"/>
          <c:spPr>
            <a:pattFill prst="pct75">
              <a:fgClr>
                <a:srgbClr val="000000">
                  <a:lumMod val="75000"/>
                  <a:lumOff val="25000"/>
                </a:srgbClr>
              </a:fgClr>
              <a:bgClr>
                <a:srgbClr val="000000">
                  <a:lumMod val="65000"/>
                  <a:lumOff val="35000"/>
                </a:srgb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c:spPr>
        <c:dLbl>
          <c:idx val="0"/>
          <c:spPr>
            <a:pattFill prst="pct75">
              <a:fgClr>
                <a:srgbClr val="000000">
                  <a:lumMod val="75000"/>
                  <a:lumOff val="25000"/>
                </a:srgbClr>
              </a:fgClr>
              <a:bgClr>
                <a:srgbClr val="000000">
                  <a:lumMod val="65000"/>
                  <a:lumOff val="35000"/>
                </a:srgb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c:spPr>
        <c:dLbl>
          <c:idx val="0"/>
          <c:spPr>
            <a:pattFill prst="pct75">
              <a:fgClr>
                <a:srgbClr val="000000">
                  <a:lumMod val="75000"/>
                  <a:lumOff val="25000"/>
                </a:srgbClr>
              </a:fgClr>
              <a:bgClr>
                <a:srgbClr val="000000">
                  <a:lumMod val="65000"/>
                  <a:lumOff val="35000"/>
                </a:srgb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2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c:spPr>
        <c:marker>
          <c:symbol val="none"/>
        </c:marker>
        <c:dLbl>
          <c:idx val="0"/>
          <c:spPr>
            <a:pattFill prst="pct75">
              <a:fgClr>
                <a:srgbClr val="000000">
                  <a:lumMod val="75000"/>
                  <a:lumOff val="25000"/>
                </a:srgbClr>
              </a:fgClr>
              <a:bgClr>
                <a:srgbClr val="000000">
                  <a:lumMod val="65000"/>
                  <a:lumOff val="35000"/>
                </a:srgb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2">
              <a:lumMod val="50000"/>
            </a:schemeClr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c:spPr>
      </c:pivotFmt>
      <c:pivotFmt>
        <c:idx val="12"/>
        <c:spPr>
          <a:solidFill>
            <a:schemeClr val="accent1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c:spPr>
      </c:pivotFmt>
      <c:pivotFmt>
        <c:idx val="13"/>
        <c:spPr>
          <a:solidFill>
            <a:schemeClr val="accent6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c:spPr>
      </c:pivotFmt>
      <c:pivotFmt>
        <c:idx val="14"/>
        <c:spPr>
          <a:solidFill>
            <a:schemeClr val="accent1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c:spPr>
      </c:pivotFmt>
      <c:pivotFmt>
        <c:idx val="15"/>
        <c:spPr>
          <a:solidFill>
            <a:schemeClr val="accent2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c:spPr>
        <c:marker>
          <c:symbol val="none"/>
        </c:marker>
        <c:dLbl>
          <c:idx val="0"/>
          <c:spPr>
            <a:pattFill prst="pct75">
              <a:fgClr>
                <a:srgbClr val="000000">
                  <a:lumMod val="75000"/>
                  <a:lumOff val="25000"/>
                </a:srgbClr>
              </a:fgClr>
              <a:bgClr>
                <a:srgbClr val="000000">
                  <a:lumMod val="65000"/>
                  <a:lumOff val="35000"/>
                </a:srgb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2">
              <a:lumMod val="50000"/>
            </a:schemeClr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c:spPr>
      </c:pivotFmt>
      <c:pivotFmt>
        <c:idx val="17"/>
        <c:spPr>
          <a:solidFill>
            <a:schemeClr val="accent1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c:spPr>
      </c:pivotFmt>
      <c:pivotFmt>
        <c:idx val="18"/>
        <c:spPr>
          <a:solidFill>
            <a:schemeClr val="accent6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c:spPr>
      </c:pivotFmt>
      <c:pivotFmt>
        <c:idx val="19"/>
        <c:spPr>
          <a:solidFill>
            <a:schemeClr val="accent1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c:spPr>
      </c:pivotFmt>
      <c:pivotFmt>
        <c:idx val="20"/>
        <c:spPr>
          <a:solidFill>
            <a:schemeClr val="accent2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c:spPr>
        <c:marker>
          <c:symbol val="none"/>
        </c:marker>
        <c:dLbl>
          <c:idx val="0"/>
          <c:spPr>
            <a:pattFill prst="pct75">
              <a:fgClr>
                <a:srgbClr val="000000">
                  <a:lumMod val="75000"/>
                  <a:lumOff val="25000"/>
                </a:srgbClr>
              </a:fgClr>
              <a:bgClr>
                <a:srgbClr val="000000">
                  <a:lumMod val="65000"/>
                  <a:lumOff val="35000"/>
                </a:srgb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2">
              <a:lumMod val="50000"/>
            </a:schemeClr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c:spPr>
      </c:pivotFmt>
      <c:pivotFmt>
        <c:idx val="22"/>
        <c:spPr>
          <a:solidFill>
            <a:schemeClr val="accent1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c:spPr>
      </c:pivotFmt>
      <c:pivotFmt>
        <c:idx val="23"/>
        <c:spPr>
          <a:solidFill>
            <a:schemeClr val="accent6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c:spPr>
      </c:pivotFmt>
      <c:pivotFmt>
        <c:idx val="24"/>
        <c:spPr>
          <a:solidFill>
            <a:schemeClr val="accent1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c:spPr>
      </c:pivotFmt>
    </c:pivotFmts>
    <c:plotArea>
      <c:layout>
        <c:manualLayout>
          <c:layoutTarget val="inner"/>
          <c:xMode val="edge"/>
          <c:yMode val="edge"/>
          <c:x val="0.27572700066245431"/>
          <c:y val="0.21198845948853789"/>
          <c:w val="0.42155281417056173"/>
          <c:h val="0.630798962995476"/>
        </c:manualLayout>
      </c:layout>
      <c:doughnutChart>
        <c:varyColors val="1"/>
        <c:ser>
          <c:idx val="0"/>
          <c:order val="0"/>
          <c:tx>
            <c:strRef>
              <c:f>pivot!$I$11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2"/>
            </a:solidFill>
            <a:effectLst>
              <a:innerShdw blurRad="63500" dist="50800" dir="5400000">
                <a:prstClr val="black">
                  <a:alpha val="50000"/>
                </a:prstClr>
              </a:innerShdw>
            </a:effectLst>
          </c:spPr>
          <c:explosion val="1"/>
          <c:dPt>
            <c:idx val="0"/>
            <c:bubble3D val="0"/>
            <c:spPr>
              <a:solidFill>
                <a:schemeClr val="accent5"/>
              </a:solidFill>
              <a:ln>
                <a:noFill/>
              </a:ln>
              <a:effectLst>
                <a:innerShdw blurRad="63500" dist="50800" dir="5400000">
                  <a:prstClr val="black">
                    <a:alpha val="50000"/>
                  </a:prstClr>
                </a:innerShdw>
              </a:effectLst>
            </c:spPr>
            <c:extLst>
              <c:ext xmlns:c16="http://schemas.microsoft.com/office/drawing/2014/chart" uri="{C3380CC4-5D6E-409C-BE32-E72D297353CC}">
                <c16:uniqueId val="{00000001-DE8D-43DA-B3FB-0A5322EE4B32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innerShdw blurRad="63500" dist="50800" dir="5400000">
                  <a:prstClr val="black">
                    <a:alpha val="50000"/>
                  </a:prstClr>
                </a:innerShdw>
              </a:effectLst>
            </c:spPr>
            <c:extLst>
              <c:ext xmlns:c16="http://schemas.microsoft.com/office/drawing/2014/chart" uri="{C3380CC4-5D6E-409C-BE32-E72D297353CC}">
                <c16:uniqueId val="{00000003-DE8D-43DA-B3FB-0A5322EE4B32}"/>
              </c:ext>
            </c:extLst>
          </c:dPt>
          <c:dPt>
            <c:idx val="2"/>
            <c:bubble3D val="0"/>
            <c:spPr>
              <a:solidFill>
                <a:schemeClr val="accent6"/>
              </a:solidFill>
              <a:ln>
                <a:noFill/>
              </a:ln>
              <a:effectLst>
                <a:innerShdw blurRad="63500" dist="50800" dir="5400000">
                  <a:prstClr val="black">
                    <a:alpha val="50000"/>
                  </a:prstClr>
                </a:innerShdw>
              </a:effectLst>
            </c:spPr>
            <c:extLst>
              <c:ext xmlns:c16="http://schemas.microsoft.com/office/drawing/2014/chart" uri="{C3380CC4-5D6E-409C-BE32-E72D297353CC}">
                <c16:uniqueId val="{00000005-DE8D-43DA-B3FB-0A5322EE4B32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innerShdw blurRad="63500" dist="50800" dir="5400000">
                  <a:prstClr val="black">
                    <a:alpha val="50000"/>
                  </a:prstClr>
                </a:innerShdw>
              </a:effectLst>
            </c:spPr>
            <c:extLst>
              <c:ext xmlns:c16="http://schemas.microsoft.com/office/drawing/2014/chart" uri="{C3380CC4-5D6E-409C-BE32-E72D297353CC}">
                <c16:uniqueId val="{00000007-DE8D-43DA-B3FB-0A5322EE4B32}"/>
              </c:ext>
            </c:extLst>
          </c:dPt>
          <c:dLbls>
            <c:spPr>
              <a:noFill/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bg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pivot!$H$12:$H$15</c:f>
              <c:strCach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</c:strCache>
            </c:strRef>
          </c:cat>
          <c:val>
            <c:numRef>
              <c:f>pivot!$I$12:$I$15</c:f>
              <c:numCache>
                <c:formatCode>General</c:formatCode>
                <c:ptCount val="4"/>
                <c:pt idx="0">
                  <c:v>29410</c:v>
                </c:pt>
                <c:pt idx="1">
                  <c:v>16694</c:v>
                </c:pt>
                <c:pt idx="2">
                  <c:v>15845</c:v>
                </c:pt>
                <c:pt idx="3">
                  <c:v>35549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E8D-43DA-B3FB-0A5322EE4B32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8851940510950091"/>
          <c:y val="0.88250476712641635"/>
          <c:w val="0.34299788794760599"/>
          <c:h val="7.812554680664916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ln>
                <a:noFill/>
              </a:ln>
              <a:solidFill>
                <a:schemeClr val="bg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1">
        <a:lumMod val="40000"/>
        <a:lumOff val="60000"/>
      </a:schemeClr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[TEJAS K R (IT TICKECT ANALYSIS)_UPDATED.xlsx]pivot!Distribution of tickets based on satisfaction score</c:name>
    <c:fmtId val="12"/>
  </c:pivotSource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 u="none" strike="noStrike" kern="1200" spc="100" baseline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pPr>
            <a:r>
              <a:rPr lang="en-IN" sz="1600" b="1" i="0" u="none" strike="noStrike" kern="1200" cap="all" spc="100" baseline="0">
                <a:solidFill>
                  <a:schemeClr val="bg1"/>
                </a:solidFill>
                <a:effectLst/>
              </a:rPr>
              <a:t>Distribution of tickets based on satisfaction rate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bg1"/>
                </a:solidFill>
                <a:effectLst/>
              </a:defRPr>
            </a:pPr>
            <a:endParaRPr lang="en-US" sz="1600">
              <a:solidFill>
                <a:schemeClr val="bg1"/>
              </a:solidFill>
              <a:effectLst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600" b="1" i="0" u="none" strike="noStrike" kern="1200" spc="100" baseline="0">
              <a:solidFill>
                <a:schemeClr val="bg1"/>
              </a:solidFill>
              <a:effectLst/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rgbClr val="00B050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>
                <a:rot lat="0" lon="0" rev="1200000"/>
              </a:lightRig>
            </a:scene3d>
            <a:sp3d>
              <a:bevelT w="38100" h="127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00B050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c:spPr>
      </c:pivotFmt>
      <c:pivotFmt>
        <c:idx val="2"/>
        <c:spPr>
          <a:solidFill>
            <a:srgbClr val="00B050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c:spPr>
      </c:pivotFmt>
      <c:pivotFmt>
        <c:idx val="3"/>
        <c:spPr>
          <a:solidFill>
            <a:srgbClr val="00B050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c:spPr>
      </c:pivotFmt>
      <c:pivotFmt>
        <c:idx val="4"/>
        <c:spPr>
          <a:solidFill>
            <a:srgbClr val="00B050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c:spPr>
      </c:pivotFmt>
      <c:pivotFmt>
        <c:idx val="5"/>
        <c:spPr>
          <a:solidFill>
            <a:srgbClr val="00B050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6"/>
          </a:solidFill>
          <a:ln>
            <a:noFill/>
          </a:ln>
          <a:effectLst>
            <a:innerShdw blurRad="114300">
              <a:prstClr val="black"/>
            </a:inn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6"/>
          </a:solidFill>
          <a:ln>
            <a:noFill/>
          </a:ln>
          <a:effectLst>
            <a:innerShdw blurRad="114300">
              <a:prstClr val="black"/>
            </a:inn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c:spPr>
      </c:pivotFmt>
      <c:pivotFmt>
        <c:idx val="8"/>
        <c:spPr>
          <a:solidFill>
            <a:schemeClr val="accent6"/>
          </a:solidFill>
          <a:ln>
            <a:noFill/>
          </a:ln>
          <a:effectLst>
            <a:innerShdw blurRad="114300">
              <a:prstClr val="black"/>
            </a:inn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6"/>
          </a:solidFill>
          <a:ln>
            <a:noFill/>
          </a:ln>
          <a:effectLst>
            <a:innerShdw blurRad="114300">
              <a:prstClr val="black"/>
            </a:inn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4638980916845423"/>
          <c:y val="0.3512121212121212"/>
          <c:w val="0.84049550783382876"/>
          <c:h val="0.4718286805058458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pivot!$B$22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threePt" dir="tl">
                <a:rot lat="0" lon="0" rev="1200000"/>
              </a:lightRig>
            </a:scene3d>
            <a:sp3d>
              <a:bevelT w="38100" h="127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pivot!$A$23:$A$27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pivot!$B$23:$B$27</c:f>
              <c:numCache>
                <c:formatCode>General</c:formatCode>
                <c:ptCount val="5"/>
                <c:pt idx="0">
                  <c:v>9907</c:v>
                </c:pt>
                <c:pt idx="1">
                  <c:v>1977</c:v>
                </c:pt>
                <c:pt idx="2">
                  <c:v>7282</c:v>
                </c:pt>
                <c:pt idx="3">
                  <c:v>27562</c:v>
                </c:pt>
                <c:pt idx="4">
                  <c:v>50770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359-4151-B5AB-5F1F39C3DA5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123071119"/>
        <c:axId val="123069199"/>
      </c:barChart>
      <c:catAx>
        <c:axId val="12307111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cap="all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400" dirty="0">
                    <a:solidFill>
                      <a:schemeClr val="bg1"/>
                    </a:solidFill>
                  </a:rPr>
                  <a:t>SATISFACTION</a:t>
                </a:r>
                <a:r>
                  <a:rPr lang="en-IN" sz="1400" baseline="0" dirty="0">
                    <a:solidFill>
                      <a:schemeClr val="bg1"/>
                    </a:solidFill>
                  </a:rPr>
                  <a:t> RATE</a:t>
                </a:r>
                <a:endParaRPr lang="en-IN" sz="1400" dirty="0">
                  <a:solidFill>
                    <a:schemeClr val="bg1"/>
                  </a:solidFill>
                </a:endParaRPr>
              </a:p>
            </c:rich>
          </c:tx>
          <c:layout>
            <c:manualLayout>
              <c:xMode val="edge"/>
              <c:yMode val="edge"/>
              <c:x val="0.38243058761826371"/>
              <c:y val="0.91376101066991711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cap="all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3069199"/>
        <c:crosses val="autoZero"/>
        <c:auto val="1"/>
        <c:lblAlgn val="ctr"/>
        <c:lblOffset val="100"/>
        <c:noMultiLvlLbl val="0"/>
      </c:catAx>
      <c:valAx>
        <c:axId val="1230691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30711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1">
        <a:lumMod val="40000"/>
        <a:lumOff val="60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[TEJAS K R (IT TICKECT ANALYSIS).xlsx]pivot!Average resolution time by request category quarter-wise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sz="1600" b="1" i="0" u="none" strike="noStrike" kern="1200" baseline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pPr>
            <a:r>
              <a:rPr lang="en-IN" sz="1600" b="1" cap="none" spc="0" dirty="0">
                <a:ln w="0"/>
                <a:solidFill>
                  <a:schemeClr val="bg1"/>
                </a:solidFill>
                <a:effectLst/>
              </a:rPr>
              <a:t>AVERAGE RESOLUTION TIME BY REQUEST CATEGORY QUARTER-WISE</a:t>
            </a:r>
          </a:p>
        </c:rich>
      </c:tx>
      <c:layout>
        <c:manualLayout>
          <c:xMode val="edge"/>
          <c:yMode val="edge"/>
          <c:x val="0.17997102257477671"/>
          <c:y val="3.124991380633963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sz="1600" b="1" i="0" u="none" strike="noStrike" kern="1200" baseline="0">
              <a:solidFill>
                <a:schemeClr val="bg1"/>
              </a:solidFill>
              <a:effectLst/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pivot!$L$2:$L$3</c:f>
              <c:strCache>
                <c:ptCount val="1"/>
                <c:pt idx="0">
                  <c:v>Qtr1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14300">
                <a:prstClr val="black"/>
              </a:innerShdw>
            </a:effectLst>
            <a:scene3d>
              <a:camera prst="orthographicFront"/>
              <a:lightRig rig="soft" dir="t">
                <a:rot lat="0" lon="0" rev="0"/>
              </a:lightRig>
            </a:scene3d>
            <a:sp3d prstMaterial="matte">
              <a:bevelT w="63500" h="63500" prst="artDeco"/>
              <a:contourClr>
                <a:srgbClr val="000000"/>
              </a:contourClr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cap="none" spc="0" baseline="0">
                    <a:ln w="0"/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pivot!$K$4:$K$7</c:f>
              <c:strCache>
                <c:ptCount val="4"/>
                <c:pt idx="0">
                  <c:v>Hardware</c:v>
                </c:pt>
                <c:pt idx="1">
                  <c:v>Login Access</c:v>
                </c:pt>
                <c:pt idx="2">
                  <c:v>Software</c:v>
                </c:pt>
                <c:pt idx="3">
                  <c:v>System</c:v>
                </c:pt>
              </c:strCache>
            </c:strRef>
          </c:cat>
          <c:val>
            <c:numRef>
              <c:f>pivot!$L$4:$L$7</c:f>
              <c:numCache>
                <c:formatCode>0.0</c:formatCode>
                <c:ptCount val="4"/>
                <c:pt idx="0">
                  <c:v>7.7437185929648242</c:v>
                </c:pt>
                <c:pt idx="1">
                  <c:v>0.30982295830953743</c:v>
                </c:pt>
                <c:pt idx="2">
                  <c:v>5.2396186440677965</c:v>
                </c:pt>
                <c:pt idx="3">
                  <c:v>6.6398099146776106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E0-4101-B76B-B90425F9F401}"/>
            </c:ext>
          </c:extLst>
        </c:ser>
        <c:ser>
          <c:idx val="1"/>
          <c:order val="1"/>
          <c:tx>
            <c:strRef>
              <c:f>pivot!$M$2:$M$3</c:f>
              <c:strCache>
                <c:ptCount val="1"/>
                <c:pt idx="0">
                  <c:v>Qtr2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14300">
                <a:prstClr val="black"/>
              </a:innerShdw>
            </a:effectLst>
            <a:scene3d>
              <a:camera prst="orthographicFront"/>
              <a:lightRig rig="soft" dir="t">
                <a:rot lat="0" lon="0" rev="0"/>
              </a:lightRig>
            </a:scene3d>
            <a:sp3d prstMaterial="matte">
              <a:bevelT w="63500" h="63500" prst="artDeco"/>
              <a:contourClr>
                <a:srgbClr val="000000"/>
              </a:contourClr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cap="none" spc="0" baseline="0">
                    <a:ln w="0"/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pivot!$K$4:$K$7</c:f>
              <c:strCache>
                <c:ptCount val="4"/>
                <c:pt idx="0">
                  <c:v>Hardware</c:v>
                </c:pt>
                <c:pt idx="1">
                  <c:v>Login Access</c:v>
                </c:pt>
                <c:pt idx="2">
                  <c:v>Software</c:v>
                </c:pt>
                <c:pt idx="3">
                  <c:v>System</c:v>
                </c:pt>
              </c:strCache>
            </c:strRef>
          </c:cat>
          <c:val>
            <c:numRef>
              <c:f>pivot!$M$4:$M$7</c:f>
              <c:numCache>
                <c:formatCode>0.0</c:formatCode>
                <c:ptCount val="4"/>
                <c:pt idx="0">
                  <c:v>7.6847290640394093</c:v>
                </c:pt>
                <c:pt idx="1">
                  <c:v>0.32385814819925485</c:v>
                </c:pt>
                <c:pt idx="2">
                  <c:v>5.2590348861499896</c:v>
                </c:pt>
                <c:pt idx="3">
                  <c:v>6.642100935347929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7E0-4101-B76B-B90425F9F401}"/>
            </c:ext>
          </c:extLst>
        </c:ser>
        <c:ser>
          <c:idx val="2"/>
          <c:order val="2"/>
          <c:tx>
            <c:strRef>
              <c:f>pivot!$N$2:$N$3</c:f>
              <c:strCache>
                <c:ptCount val="1"/>
                <c:pt idx="0">
                  <c:v>Qtr3</c:v>
                </c:pt>
              </c:strCache>
            </c:strRef>
          </c:tx>
          <c:spPr>
            <a:solidFill>
              <a:schemeClr val="accent6">
                <a:lumMod val="75000"/>
              </a:schemeClr>
            </a:solidFill>
            <a:ln>
              <a:noFill/>
            </a:ln>
            <a:effectLst>
              <a:innerShdw blurRad="114300">
                <a:prstClr val="black"/>
              </a:innerShdw>
            </a:effectLst>
            <a:scene3d>
              <a:camera prst="orthographicFront"/>
              <a:lightRig rig="soft" dir="t">
                <a:rot lat="0" lon="0" rev="0"/>
              </a:lightRig>
            </a:scene3d>
            <a:sp3d prstMaterial="matte">
              <a:bevelT w="63500" h="63500" prst="artDeco"/>
              <a:contourClr>
                <a:srgbClr val="000000"/>
              </a:contourClr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cap="none" spc="0" baseline="0">
                    <a:ln w="0"/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pivot!$K$4:$K$7</c:f>
              <c:strCache>
                <c:ptCount val="4"/>
                <c:pt idx="0">
                  <c:v>Hardware</c:v>
                </c:pt>
                <c:pt idx="1">
                  <c:v>Login Access</c:v>
                </c:pt>
                <c:pt idx="2">
                  <c:v>Software</c:v>
                </c:pt>
                <c:pt idx="3">
                  <c:v>System</c:v>
                </c:pt>
              </c:strCache>
            </c:strRef>
          </c:cat>
          <c:val>
            <c:numRef>
              <c:f>pivot!$N$4:$N$7</c:f>
              <c:numCache>
                <c:formatCode>0.0</c:formatCode>
                <c:ptCount val="4"/>
                <c:pt idx="0">
                  <c:v>7.5285714285714285</c:v>
                </c:pt>
                <c:pt idx="1">
                  <c:v>0.31265239772419401</c:v>
                </c:pt>
                <c:pt idx="2">
                  <c:v>5.1592673700975515</c:v>
                </c:pt>
                <c:pt idx="3">
                  <c:v>6.5821828076186639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7E0-4101-B76B-B90425F9F401}"/>
            </c:ext>
          </c:extLst>
        </c:ser>
        <c:ser>
          <c:idx val="3"/>
          <c:order val="3"/>
          <c:tx>
            <c:strRef>
              <c:f>pivot!$O$2:$O$3</c:f>
              <c:strCache>
                <c:ptCount val="1"/>
                <c:pt idx="0">
                  <c:v>Qtr4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60000"/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lumMod val="60000"/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6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14300">
                <a:prstClr val="black"/>
              </a:innerShdw>
            </a:effectLst>
            <a:scene3d>
              <a:camera prst="orthographicFront"/>
              <a:lightRig rig="soft" dir="t">
                <a:rot lat="0" lon="0" rev="0"/>
              </a:lightRig>
            </a:scene3d>
            <a:sp3d prstMaterial="matte">
              <a:bevelT w="63500" h="63500" prst="artDeco"/>
              <a:contourClr>
                <a:srgbClr val="000000"/>
              </a:contourClr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cap="none" spc="0" baseline="0">
                    <a:ln w="0"/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pivot!$K$4:$K$7</c:f>
              <c:strCache>
                <c:ptCount val="4"/>
                <c:pt idx="0">
                  <c:v>Hardware</c:v>
                </c:pt>
                <c:pt idx="1">
                  <c:v>Login Access</c:v>
                </c:pt>
                <c:pt idx="2">
                  <c:v>Software</c:v>
                </c:pt>
                <c:pt idx="3">
                  <c:v>System</c:v>
                </c:pt>
              </c:strCache>
            </c:strRef>
          </c:cat>
          <c:val>
            <c:numRef>
              <c:f>pivot!$O$4:$O$7</c:f>
              <c:numCache>
                <c:formatCode>0.0</c:formatCode>
                <c:ptCount val="4"/>
                <c:pt idx="0">
                  <c:v>7.5481903212688088</c:v>
                </c:pt>
                <c:pt idx="1">
                  <c:v>0.30899470899470899</c:v>
                </c:pt>
                <c:pt idx="2">
                  <c:v>5.2978174603174599</c:v>
                </c:pt>
                <c:pt idx="3">
                  <c:v>6.600733326726786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7E0-4101-B76B-B90425F9F40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107826783"/>
        <c:axId val="107827743"/>
      </c:barChart>
      <c:catAx>
        <c:axId val="1078267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cap="none" spc="0" baseline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827743"/>
        <c:crosses val="autoZero"/>
        <c:auto val="1"/>
        <c:lblAlgn val="ctr"/>
        <c:lblOffset val="100"/>
        <c:noMultiLvlLbl val="0"/>
      </c:catAx>
      <c:valAx>
        <c:axId val="107827743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200" dirty="0">
                    <a:solidFill>
                      <a:schemeClr val="bg1"/>
                    </a:solidFill>
                  </a:rPr>
                  <a:t>RESOLUTION</a:t>
                </a:r>
                <a:r>
                  <a:rPr lang="en-IN" sz="1200" baseline="0" dirty="0">
                    <a:solidFill>
                      <a:schemeClr val="bg1"/>
                    </a:solidFill>
                  </a:rPr>
                  <a:t> TIME</a:t>
                </a:r>
                <a:endParaRPr lang="en-IN" sz="1200" dirty="0">
                  <a:solidFill>
                    <a:schemeClr val="bg1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cap="none" spc="0" baseline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826783"/>
        <c:crosses val="autoZero"/>
        <c:crossBetween val="between"/>
      </c:valAx>
      <c:spPr>
        <a:noFill/>
        <a:ln>
          <a:noFill/>
        </a:ln>
        <a:effectLst>
          <a:innerShdw blurRad="114300">
            <a:prstClr val="black"/>
          </a:innerShdw>
        </a:effectLst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1">
        <a:lumMod val="40000"/>
        <a:lumOff val="60000"/>
      </a:schemeClr>
    </a:solidFill>
    <a:ln w="9525" cap="flat" cmpd="sng" algn="ctr">
      <a:noFill/>
      <a:round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pivotSource>
    <c:name>[TEJAS K R (IT TICKECT ANALYSIS).xlsx]pivot!Satisfaction rate by time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 u="none" strike="noStrike" kern="1200" cap="none" spc="0" baseline="0">
                <a:ln w="0"/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pPr>
            <a:r>
              <a:rPr lang="en-US" sz="1600" b="1" i="0" u="none" strike="noStrike" kern="1200" cap="none" spc="0" baseline="0" dirty="0">
                <a:ln w="0"/>
                <a:solidFill>
                  <a:schemeClr val="bg1"/>
                </a:solidFill>
                <a:effectLst/>
              </a:rPr>
              <a:t>SATISFACTION RATE BY TIME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600" b="1" i="0" u="none" strike="noStrike" kern="1200" cap="none" spc="0" baseline="0">
              <a:ln w="0"/>
              <a:solidFill>
                <a:schemeClr val="bg1"/>
              </a:solidFill>
              <a:effectLst/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6"/>
          </a:solidFill>
          <a:ln>
            <a:noFill/>
          </a:ln>
          <a:effectLst>
            <a:innerShdw blurRad="114300">
              <a:prstClr val="black"/>
            </a:inn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6"/>
          </a:solidFill>
          <a:ln>
            <a:noFill/>
          </a:ln>
          <a:effectLst>
            <a:innerShdw blurRad="114300">
              <a:prstClr val="black"/>
            </a:inn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6"/>
          </a:solidFill>
          <a:ln>
            <a:noFill/>
          </a:ln>
          <a:effectLst>
            <a:innerShdw blurRad="114300">
              <a:prstClr val="black"/>
            </a:inn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pivot!$I$2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>
              <a:innerShdw blurRad="114300">
                <a:prstClr val="black"/>
              </a:inn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cap="none" spc="0" baseline="0">
                    <a:ln w="0"/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pivot!$H$3:$H$7</c:f>
              <c:strCache>
                <c:ptCount val="5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</c:strCache>
            </c:strRef>
          </c:cat>
          <c:val>
            <c:numRef>
              <c:f>pivot!$I$3:$I$7</c:f>
              <c:numCache>
                <c:formatCode>0.0</c:formatCode>
                <c:ptCount val="5"/>
                <c:pt idx="0">
                  <c:v>3.9796950425254769</c:v>
                </c:pt>
                <c:pt idx="1">
                  <c:v>4.068119342943346</c:v>
                </c:pt>
                <c:pt idx="2">
                  <c:v>4.0918539622243326</c:v>
                </c:pt>
                <c:pt idx="3">
                  <c:v>4.1223825034899955</c:v>
                </c:pt>
                <c:pt idx="4">
                  <c:v>4.1612692519251926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21-412B-88B5-491CC3B301D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07828703"/>
        <c:axId val="107829183"/>
      </c:barChart>
      <c:catAx>
        <c:axId val="10782870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400" b="1" dirty="0">
                    <a:solidFill>
                      <a:schemeClr val="bg1"/>
                    </a:solidFill>
                  </a:rPr>
                  <a:t>TIME(YEAR)</a:t>
                </a:r>
              </a:p>
            </c:rich>
          </c:tx>
          <c:layout>
            <c:manualLayout>
              <c:xMode val="edge"/>
              <c:yMode val="edge"/>
              <c:x val="0.4815755076622546"/>
              <c:y val="0.9051959546486481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cap="none" spc="0" baseline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829183"/>
        <c:crosses val="autoZero"/>
        <c:auto val="1"/>
        <c:lblAlgn val="ctr"/>
        <c:lblOffset val="100"/>
        <c:noMultiLvlLbl val="0"/>
      </c:catAx>
      <c:valAx>
        <c:axId val="107829183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400" b="1" dirty="0">
                    <a:solidFill>
                      <a:schemeClr val="bg1"/>
                    </a:solidFill>
                  </a:rPr>
                  <a:t>SATICSFACTION</a:t>
                </a:r>
                <a:r>
                  <a:rPr lang="en-IN" sz="1400" b="1" baseline="0" dirty="0">
                    <a:solidFill>
                      <a:schemeClr val="bg1"/>
                    </a:solidFill>
                  </a:rPr>
                  <a:t> RATE</a:t>
                </a:r>
                <a:endParaRPr lang="en-IN" sz="1400" b="1" dirty="0">
                  <a:solidFill>
                    <a:schemeClr val="bg1"/>
                  </a:solidFill>
                </a:endParaRPr>
              </a:p>
            </c:rich>
          </c:tx>
          <c:layout>
            <c:manualLayout>
              <c:xMode val="edge"/>
              <c:yMode val="edge"/>
              <c:x val="5.8303800963525514E-3"/>
              <c:y val="0.2422056437520807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cap="none" spc="0" baseline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8287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1">
        <a:lumMod val="40000"/>
        <a:lumOff val="60000"/>
      </a:schemeClr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[TEJAS K R (IT TICKECT ANALYSIS).xlsx]pivot!Age group by satisfaction rate.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 u="none" strike="noStrike" kern="1200" cap="none" spc="0" baseline="0">
                <a:ln w="0"/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pPr>
            <a:r>
              <a:rPr lang="en-US" sz="1600" b="1" i="0" u="none" strike="noStrike" kern="1200" cap="none" spc="0" baseline="0" dirty="0">
                <a:ln w="0"/>
                <a:solidFill>
                  <a:schemeClr val="bg1"/>
                </a:solidFill>
                <a:effectLst/>
              </a:rPr>
              <a:t>SATISFACTION RATE BY AGE-GROUPS</a:t>
            </a:r>
          </a:p>
        </c:rich>
      </c:tx>
      <c:layout>
        <c:manualLayout>
          <c:xMode val="edge"/>
          <c:yMode val="edge"/>
          <c:x val="0.30231864138284492"/>
          <c:y val="5.236163539478588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600" b="1" i="0" u="none" strike="noStrike" kern="1200" cap="none" spc="0" baseline="0">
              <a:ln w="0"/>
              <a:solidFill>
                <a:schemeClr val="bg1"/>
              </a:solidFill>
              <a:effectLst/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4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4"/>
            </a:solidFill>
            <a:ln w="9525">
              <a:solidFill>
                <a:schemeClr val="accent4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4"/>
          </a:solidFill>
          <a:ln>
            <a:noFill/>
          </a:ln>
          <a:effectLst>
            <a:innerShdw blurRad="114300">
              <a:prstClr val="black"/>
            </a:inn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4"/>
          </a:solidFill>
          <a:ln>
            <a:noFill/>
          </a:ln>
          <a:effectLst>
            <a:innerShdw blurRad="114300">
              <a:prstClr val="black"/>
            </a:inn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4"/>
          </a:solidFill>
          <a:ln>
            <a:noFill/>
          </a:ln>
          <a:effectLst>
            <a:innerShdw blurRad="114300">
              <a:prstClr val="black"/>
            </a:inn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pivot!$B$11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>
              <a:innerShdw blurRad="114300">
                <a:prstClr val="black"/>
              </a:inn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cap="none" spc="0" baseline="0">
                    <a:ln w="0"/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pivot!$A$12:$A$18</c:f>
              <c:strCache>
                <c:ptCount val="7"/>
                <c:pt idx="0">
                  <c:v>24-27</c:v>
                </c:pt>
                <c:pt idx="1">
                  <c:v>28-31</c:v>
                </c:pt>
                <c:pt idx="2">
                  <c:v>32-35</c:v>
                </c:pt>
                <c:pt idx="3">
                  <c:v>36-39</c:v>
                </c:pt>
                <c:pt idx="4">
                  <c:v>40-43</c:v>
                </c:pt>
                <c:pt idx="5">
                  <c:v>44-47</c:v>
                </c:pt>
                <c:pt idx="6">
                  <c:v>48-51</c:v>
                </c:pt>
              </c:strCache>
            </c:strRef>
          </c:cat>
          <c:val>
            <c:numRef>
              <c:f>pivot!$B$12:$B$18</c:f>
              <c:numCache>
                <c:formatCode>0.0</c:formatCode>
                <c:ptCount val="7"/>
                <c:pt idx="0">
                  <c:v>4.2099816888813182</c:v>
                </c:pt>
                <c:pt idx="1">
                  <c:v>4.018618387262455</c:v>
                </c:pt>
                <c:pt idx="2">
                  <c:v>4.1393617805291472</c:v>
                </c:pt>
                <c:pt idx="3">
                  <c:v>3.9178286596346799</c:v>
                </c:pt>
                <c:pt idx="4">
                  <c:v>4.0765039727582293</c:v>
                </c:pt>
                <c:pt idx="5">
                  <c:v>4.0669550885867327</c:v>
                </c:pt>
                <c:pt idx="6">
                  <c:v>4.4147582697201022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A0F-4902-B24E-B78F0DC346F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26"/>
        <c:overlap val="-27"/>
        <c:axId val="1379363935"/>
        <c:axId val="1379362495"/>
      </c:barChart>
      <c:catAx>
        <c:axId val="137936393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400" b="1" dirty="0">
                    <a:solidFill>
                      <a:schemeClr val="bg1"/>
                    </a:solidFill>
                  </a:rPr>
                  <a:t>AGE</a:t>
                </a:r>
              </a:p>
            </c:rich>
          </c:tx>
          <c:layout>
            <c:manualLayout>
              <c:xMode val="edge"/>
              <c:yMode val="edge"/>
              <c:x val="0.45037987617979081"/>
              <c:y val="0.9197711083895578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cap="none" spc="0" baseline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79362495"/>
        <c:crosses val="autoZero"/>
        <c:auto val="1"/>
        <c:lblAlgn val="ctr"/>
        <c:lblOffset val="100"/>
        <c:noMultiLvlLbl val="0"/>
      </c:catAx>
      <c:valAx>
        <c:axId val="1379362495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200" b="1" dirty="0">
                    <a:solidFill>
                      <a:schemeClr val="bg1"/>
                    </a:solidFill>
                  </a:rPr>
                  <a:t>SATISFACTION</a:t>
                </a:r>
                <a:r>
                  <a:rPr lang="en-IN" sz="1200" b="1" baseline="0" dirty="0">
                    <a:solidFill>
                      <a:schemeClr val="bg1"/>
                    </a:solidFill>
                  </a:rPr>
                  <a:t> RATE</a:t>
                </a:r>
                <a:endParaRPr lang="en-IN" sz="1200" b="1" dirty="0">
                  <a:solidFill>
                    <a:schemeClr val="bg1"/>
                  </a:solidFill>
                </a:endParaRPr>
              </a:p>
            </c:rich>
          </c:tx>
          <c:layout>
            <c:manualLayout>
              <c:xMode val="edge"/>
              <c:yMode val="edge"/>
              <c:x val="1.2332742093370978E-2"/>
              <c:y val="0.2783172443191693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cap="none" spc="0" baseline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7936393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1">
        <a:lumMod val="40000"/>
        <a:lumOff val="60000"/>
      </a:schemeClr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pivotSource>
    <c:name>[TEJAS K R (IT TICKECT ANALYSIS).xlsx]pivot! Distribution of tickets based on Resolution time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 u="none" strike="noStrike" kern="1200" cap="none" spc="0" baseline="0">
                <a:ln w="0"/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pPr>
            <a:r>
              <a:rPr lang="en-IN" sz="1600" b="1" i="0" u="none" strike="noStrike" kern="1200" cap="none" spc="0" baseline="0" dirty="0">
                <a:ln w="0"/>
                <a:solidFill>
                  <a:schemeClr val="bg1"/>
                </a:solidFill>
                <a:effectLst/>
              </a:rPr>
              <a:t>DISTRIBUTION OF TICKETS BASED ON RESOLUTION TIME</a:t>
            </a:r>
          </a:p>
        </c:rich>
      </c:tx>
      <c:layout>
        <c:manualLayout>
          <c:xMode val="edge"/>
          <c:yMode val="edge"/>
          <c:x val="0.20464143055662976"/>
          <c:y val="5.092583053704178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600" b="1" i="0" u="none" strike="noStrike" kern="1200" cap="none" spc="0" baseline="0">
              <a:ln w="0"/>
              <a:solidFill>
                <a:schemeClr val="bg1"/>
              </a:solidFill>
              <a:effectLst/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/>
          </a:soli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ellipsis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2"/>
          </a:soli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ellipsis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2"/>
          </a:soli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ellipsis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pivot!$L$11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>
              <a:innerShdw blurRad="63500" dist="50800" dir="10800000">
                <a:prstClr val="black">
                  <a:alpha val="50000"/>
                </a:prstClr>
              </a:inn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ellipsis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cap="none" spc="0" baseline="0">
                    <a:ln w="0"/>
                    <a:solidFill>
                      <a:schemeClr val="bg1"/>
                    </a:solidFill>
                    <a:effectLst/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pivot!$K$12:$K$33</c:f>
              <c:strCache>
                <c:ptCount val="22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</c:strCache>
            </c:strRef>
          </c:cat>
          <c:val>
            <c:numRef>
              <c:f>pivot!$L$12:$L$33</c:f>
              <c:numCache>
                <c:formatCode>General</c:formatCode>
                <c:ptCount val="22"/>
                <c:pt idx="0">
                  <c:v>25071</c:v>
                </c:pt>
                <c:pt idx="1">
                  <c:v>9277</c:v>
                </c:pt>
                <c:pt idx="2">
                  <c:v>6466</c:v>
                </c:pt>
                <c:pt idx="3">
                  <c:v>6200</c:v>
                </c:pt>
                <c:pt idx="4">
                  <c:v>4919</c:v>
                </c:pt>
                <c:pt idx="5">
                  <c:v>8789</c:v>
                </c:pt>
                <c:pt idx="6">
                  <c:v>7802</c:v>
                </c:pt>
                <c:pt idx="7">
                  <c:v>6582</c:v>
                </c:pt>
                <c:pt idx="8">
                  <c:v>4850</c:v>
                </c:pt>
                <c:pt idx="9">
                  <c:v>3739</c:v>
                </c:pt>
                <c:pt idx="10">
                  <c:v>3899</c:v>
                </c:pt>
                <c:pt idx="11">
                  <c:v>1732</c:v>
                </c:pt>
                <c:pt idx="12">
                  <c:v>1555</c:v>
                </c:pt>
                <c:pt idx="13">
                  <c:v>1712</c:v>
                </c:pt>
                <c:pt idx="14">
                  <c:v>1566</c:v>
                </c:pt>
                <c:pt idx="15">
                  <c:v>1360</c:v>
                </c:pt>
                <c:pt idx="16">
                  <c:v>1167</c:v>
                </c:pt>
                <c:pt idx="17">
                  <c:v>554</c:v>
                </c:pt>
                <c:pt idx="18">
                  <c:v>124</c:v>
                </c:pt>
                <c:pt idx="19">
                  <c:v>130</c:v>
                </c:pt>
                <c:pt idx="20">
                  <c:v>2</c:v>
                </c:pt>
                <c:pt idx="2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D3A-4E0C-A3DA-419C9A11CF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overlap val="-27"/>
        <c:axId val="1805238431"/>
        <c:axId val="1805241311"/>
      </c:barChart>
      <c:catAx>
        <c:axId val="180523843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400" b="1" dirty="0">
                    <a:solidFill>
                      <a:schemeClr val="bg1"/>
                    </a:solidFill>
                  </a:rPr>
                  <a:t>RESOLUTION</a:t>
                </a:r>
                <a:r>
                  <a:rPr lang="en-IN" sz="1400" b="1" baseline="0" dirty="0">
                    <a:solidFill>
                      <a:schemeClr val="bg1"/>
                    </a:solidFill>
                  </a:rPr>
                  <a:t> TIME</a:t>
                </a:r>
                <a:endParaRPr lang="en-IN" sz="1400" b="1" dirty="0">
                  <a:solidFill>
                    <a:schemeClr val="bg1"/>
                  </a:solidFill>
                </a:endParaRPr>
              </a:p>
            </c:rich>
          </c:tx>
          <c:layout>
            <c:manualLayout>
              <c:xMode val="edge"/>
              <c:yMode val="edge"/>
              <c:x val="0.39648654339877748"/>
              <c:y val="0.92744034478009985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cap="none" spc="0" baseline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05241311"/>
        <c:crosses val="autoZero"/>
        <c:auto val="1"/>
        <c:lblAlgn val="ctr"/>
        <c:lblOffset val="100"/>
        <c:noMultiLvlLbl val="0"/>
      </c:catAx>
      <c:valAx>
        <c:axId val="1805241311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200" b="1" dirty="0">
                    <a:solidFill>
                      <a:schemeClr val="bg1"/>
                    </a:solidFill>
                  </a:rPr>
                  <a:t>TICKET</a:t>
                </a:r>
                <a:r>
                  <a:rPr lang="en-IN" sz="1200" b="1" baseline="0" dirty="0">
                    <a:solidFill>
                      <a:schemeClr val="bg1"/>
                    </a:solidFill>
                  </a:rPr>
                  <a:t> COUNT</a:t>
                </a:r>
                <a:endParaRPr lang="en-IN" sz="1200" b="1" dirty="0">
                  <a:solidFill>
                    <a:schemeClr val="bg1"/>
                  </a:solidFill>
                </a:endParaRPr>
              </a:p>
            </c:rich>
          </c:tx>
          <c:layout>
            <c:manualLayout>
              <c:xMode val="edge"/>
              <c:yMode val="edge"/>
              <c:x val="4.2613638746736241E-3"/>
              <c:y val="0.35601641230581654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cap="none" spc="0" baseline="0">
                <a:ln w="0"/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0523843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1">
        <a:lumMod val="40000"/>
        <a:lumOff val="60000"/>
      </a:schemeClr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withinLinearReversed" id="26">
  <a:schemeClr val="accent6"/>
</cs:colorStyle>
</file>

<file path=ppt/charts/colors8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9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style1.xml><?xml version="1.0" encoding="utf-8"?>
<cs:chartStyle xmlns:cs="http://schemas.microsoft.com/office/drawing/2012/chartStyle" xmlns:a="http://schemas.openxmlformats.org/drawingml/2006/main" id="229">
  <cs:axisTitle>
    <cs:lnRef idx="0"/>
    <cs:fillRef idx="0"/>
    <cs:effectRef idx="0"/>
    <cs:fontRef idx="minor">
      <a:schemeClr val="lt1"/>
    </cs:fontRef>
    <cs:defRPr sz="900" b="1" kern="1200"/>
  </cs:axisTitle>
  <cs:categoryAxis>
    <cs:lnRef idx="0">
      <cs:styleClr val="0"/>
    </cs:lnRef>
    <cs:fillRef idx="0"/>
    <cs:effectRef idx="0"/>
    <cs:fontRef idx="minor">
      <a:schemeClr val="lt1"/>
    </cs:fontRef>
    <cs:spPr>
      <a:ln w="12700" cap="flat" cmpd="sng" algn="ctr">
        <a:solidFill>
          <a:schemeClr val="lt1"/>
        </a:solidFill>
        <a:round/>
      </a:ln>
    </cs:spPr>
    <cs:defRPr sz="900" kern="1200" spc="100" baseline="0"/>
  </cs:categoryAxis>
  <cs:chartArea>
    <cs:lnRef idx="0">
      <cs:styleClr val="0"/>
    </cs:lnRef>
    <cs:fillRef idx="0">
      <cs:styleClr val="0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  <cs:defRPr sz="1000" kern="1200"/>
  </cs:chartArea>
  <cs:dataLabel>
    <cs:lnRef idx="0"/>
    <cs:fillRef idx="0"/>
    <cs:effectRef idx="0"/>
    <cs:fontRef idx="minor">
      <a:schemeClr val="lt1"/>
    </cs:fontRef>
    <cs:defRPr sz="900" b="1" kern="120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3D>
  <cs:dataPointLine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34925" cap="rnd">
        <a:solidFill>
          <a:schemeClr val="lt1"/>
        </a:solidFill>
        <a:round/>
      </a:ln>
      <a:effectLst>
        <a:outerShdw dist="25400" dir="2700000" algn="tl" rotWithShape="0">
          <a:schemeClr val="phClr"/>
        </a:outerShdw>
      </a:effectLst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22225">
        <a:solidFill>
          <a:schemeClr val="lt1"/>
        </a:solidFill>
        <a:round/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>
      <cs:styleClr val="0"/>
    </cs:lnRef>
    <cs:fillRef idx="0"/>
    <cs:effectRef idx="0"/>
    <cs:fontRef idx="minor">
      <a:schemeClr val="lt1"/>
    </cs:fontRef>
    <cs:spPr>
      <a:ln w="9525">
        <a:solidFill>
          <a:schemeClr val="phClr">
            <a:lumMod val="60000"/>
            <a:lumOff val="40000"/>
          </a:schemeClr>
        </a:solidFill>
      </a:ln>
    </cs:spPr>
    <cs:defRPr sz="900" kern="1200"/>
  </cs:dataTable>
  <cs:downBar>
    <cs:lnRef idx="0">
      <cs:styleClr val="0"/>
    </cs:lnRef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0">
              <a:schemeClr val="lt1"/>
            </a:gs>
            <a:gs pos="100000">
              <a:schemeClr val="lt1">
                <a:alpha val="0"/>
              </a:schemeClr>
            </a:gs>
          </a:gsLst>
          <a:lin ang="5400000" scaled="0"/>
        </a:gradFill>
        <a:round/>
      </a:ln>
    </cs:spPr>
  </cs:dropLine>
  <cs:errorBar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round/>
      </a:ln>
      <a:effectLst>
        <a:glow rad="25400">
          <a:schemeClr val="lt1"/>
        </a:glow>
      </a:effectLst>
    </cs:spPr>
  </cs:errorBar>
  <cs:floor>
    <cs:lnRef idx="0"/>
    <cs:fillRef idx="0"/>
    <cs:effectRef idx="0"/>
    <cs:fontRef idx="minor">
      <a:schemeClr val="dk1"/>
    </cs:fontRef>
  </cs:floor>
  <cs:gridlineMajor>
    <cs:lnRef idx="0">
      <cs:styleClr val="0"/>
    </cs:lnRef>
    <cs:fillRef idx="0"/>
    <cs:effectRef idx="0"/>
    <cs:fontRef idx="minor">
      <a:schemeClr val="dk1"/>
    </cs:fontRef>
    <cs:spPr>
      <a:ln w="9525" cap="flat" cmpd="sng" algn="ctr">
        <a:solidFill>
          <a:schemeClr val="lt1">
            <a:alpha val="25000"/>
          </a:schemeClr>
        </a:solidFill>
        <a:round/>
      </a:ln>
    </cs:spPr>
  </cs:gridlineMajor>
  <cs:gridlineMinor>
    <cs:lnRef idx="0">
      <cs:styleClr val="0"/>
    </cs:lnRef>
    <cs:fillRef idx="0"/>
    <cs:effectRef idx="0"/>
    <cs:fontRef idx="minor">
      <a:schemeClr val="dk1"/>
    </cs:fontRef>
    <cs:spPr>
      <a:ln>
        <a:solidFill>
          <a:schemeClr val="lt1">
            <a:alpha val="10000"/>
          </a:schemeClr>
        </a:solidFill>
      </a:ln>
    </cs:spPr>
  </cs:gridlineMinor>
  <cs:hiLo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hiLoLine>
  <cs:leader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</a:ln>
    </cs:spPr>
  </cs:leaderLine>
  <cs:legend>
    <cs:lnRef idx="0"/>
    <cs:fillRef idx="0"/>
    <cs:effectRef idx="0"/>
    <cs:fontRef idx="minor">
      <a:schemeClr val="lt1"/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>
      <cs:styleClr val="0"/>
    </cs:lnRef>
    <cs:fillRef idx="0"/>
    <cs:effectRef idx="0"/>
    <cs:fontRef idx="minor">
      <a:schemeClr val="lt1"/>
    </cs:fontRef>
    <cs:spPr>
      <a:ln w="3175" cap="flat" cmpd="sng" algn="ctr">
        <a:solidFill>
          <a:schemeClr val="phClr">
            <a:lumMod val="60000"/>
            <a:lumOff val="40000"/>
          </a:schemeClr>
        </a:solidFill>
        <a:round/>
      </a:ln>
    </cs:spPr>
    <cs:defRPr sz="900" kern="1200"/>
  </cs:seriesAxis>
  <cs:series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  <a:tint val="5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lt1"/>
    </cs:fontRef>
    <cs:defRPr sz="1500" b="1" kern="1200" cap="all" spc="100" normalizeH="0" baseline="0"/>
  </cs:title>
  <cs:trendline>
    <cs:lnRef idx="0"/>
    <cs:fillRef idx="0"/>
    <cs:effectRef idx="0"/>
    <cs:fontRef idx="minor">
      <a:schemeClr val="dk1"/>
    </cs:fontRef>
    <cs:spPr>
      <a:ln w="28575" cap="rnd">
        <a:solidFill>
          <a:schemeClr val="lt1">
            <a:alpha val="50000"/>
          </a:schemeClr>
        </a:solidFill>
        <a:round/>
      </a:ln>
    </cs:spPr>
  </cs:trendline>
  <cs:trendlineLabel>
    <cs:lnRef idx="0"/>
    <cs:fillRef idx="0"/>
    <cs:effectRef idx="0"/>
    <cs:fontRef idx="minor">
      <a:schemeClr val="lt1"/>
    </cs:fontRef>
    <cs:defRPr sz="900" kern="1200"/>
  </cs:trendlineLabel>
  <cs:upBar>
    <cs:lnRef idx="0">
      <cs:styleClr val="0"/>
    </cs:lnRef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upBar>
  <cs:valueAxis>
    <cs:lnRef idx="0"/>
    <cs:fillRef idx="0"/>
    <cs:effectRef idx="0"/>
    <cs:fontRef idx="minor">
      <a:schemeClr val="lt1"/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90D019-8939-4069-B612-052D5E8656EA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25488" y="1143000"/>
            <a:ext cx="54070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0AF0EB-33CC-4361-8F7B-57AF70681F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2333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64973" rtl="0" eaLnBrk="1" latinLnBrk="0" hangingPunct="1">
      <a:defRPr sz="1792" kern="1200">
        <a:solidFill>
          <a:schemeClr val="tx1"/>
        </a:solidFill>
        <a:latin typeface="+mn-lt"/>
        <a:ea typeface="+mn-ea"/>
        <a:cs typeface="+mn-cs"/>
      </a:defRPr>
    </a:lvl1pPr>
    <a:lvl2pPr marL="682486" algn="l" defTabSz="1364973" rtl="0" eaLnBrk="1" latinLnBrk="0" hangingPunct="1">
      <a:defRPr sz="1792" kern="1200">
        <a:solidFill>
          <a:schemeClr val="tx1"/>
        </a:solidFill>
        <a:latin typeface="+mn-lt"/>
        <a:ea typeface="+mn-ea"/>
        <a:cs typeface="+mn-cs"/>
      </a:defRPr>
    </a:lvl2pPr>
    <a:lvl3pPr marL="1364973" algn="l" defTabSz="1364973" rtl="0" eaLnBrk="1" latinLnBrk="0" hangingPunct="1">
      <a:defRPr sz="1792" kern="1200">
        <a:solidFill>
          <a:schemeClr val="tx1"/>
        </a:solidFill>
        <a:latin typeface="+mn-lt"/>
        <a:ea typeface="+mn-ea"/>
        <a:cs typeface="+mn-cs"/>
      </a:defRPr>
    </a:lvl3pPr>
    <a:lvl4pPr marL="2047459" algn="l" defTabSz="1364973" rtl="0" eaLnBrk="1" latinLnBrk="0" hangingPunct="1">
      <a:defRPr sz="1792" kern="1200">
        <a:solidFill>
          <a:schemeClr val="tx1"/>
        </a:solidFill>
        <a:latin typeface="+mn-lt"/>
        <a:ea typeface="+mn-ea"/>
        <a:cs typeface="+mn-cs"/>
      </a:defRPr>
    </a:lvl4pPr>
    <a:lvl5pPr marL="2729946" algn="l" defTabSz="1364973" rtl="0" eaLnBrk="1" latinLnBrk="0" hangingPunct="1">
      <a:defRPr sz="1792" kern="1200">
        <a:solidFill>
          <a:schemeClr val="tx1"/>
        </a:solidFill>
        <a:latin typeface="+mn-lt"/>
        <a:ea typeface="+mn-ea"/>
        <a:cs typeface="+mn-cs"/>
      </a:defRPr>
    </a:lvl5pPr>
    <a:lvl6pPr marL="3412434" algn="l" defTabSz="1364973" rtl="0" eaLnBrk="1" latinLnBrk="0" hangingPunct="1">
      <a:defRPr sz="1792" kern="1200">
        <a:solidFill>
          <a:schemeClr val="tx1"/>
        </a:solidFill>
        <a:latin typeface="+mn-lt"/>
        <a:ea typeface="+mn-ea"/>
        <a:cs typeface="+mn-cs"/>
      </a:defRPr>
    </a:lvl6pPr>
    <a:lvl7pPr marL="4094920" algn="l" defTabSz="1364973" rtl="0" eaLnBrk="1" latinLnBrk="0" hangingPunct="1">
      <a:defRPr sz="1792" kern="1200">
        <a:solidFill>
          <a:schemeClr val="tx1"/>
        </a:solidFill>
        <a:latin typeface="+mn-lt"/>
        <a:ea typeface="+mn-ea"/>
        <a:cs typeface="+mn-cs"/>
      </a:defRPr>
    </a:lvl7pPr>
    <a:lvl8pPr marL="4777407" algn="l" defTabSz="1364973" rtl="0" eaLnBrk="1" latinLnBrk="0" hangingPunct="1">
      <a:defRPr sz="1792" kern="1200">
        <a:solidFill>
          <a:schemeClr val="tx1"/>
        </a:solidFill>
        <a:latin typeface="+mn-lt"/>
        <a:ea typeface="+mn-ea"/>
        <a:cs typeface="+mn-cs"/>
      </a:defRPr>
    </a:lvl8pPr>
    <a:lvl9pPr marL="5459893" algn="l" defTabSz="1364973" rtl="0" eaLnBrk="1" latinLnBrk="0" hangingPunct="1">
      <a:defRPr sz="179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AF0EB-33CC-4361-8F7B-57AF70681F23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33752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"/>
            <a:ext cx="18283237" cy="1043668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43600" y="2990053"/>
            <a:ext cx="10796589" cy="3686007"/>
          </a:xfrm>
        </p:spPr>
        <p:txBody>
          <a:bodyPr anchor="b">
            <a:normAutofit/>
          </a:bodyPr>
          <a:lstStyle>
            <a:lvl1pPr algn="r">
              <a:defRPr sz="6918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43600" y="6676061"/>
            <a:ext cx="10796589" cy="2139433"/>
          </a:xfrm>
        </p:spPr>
        <p:txBody>
          <a:bodyPr anchor="t">
            <a:normAutofit/>
          </a:bodyPr>
          <a:lstStyle>
            <a:lvl1pPr marL="0" indent="0" algn="r">
              <a:buNone/>
              <a:defRPr sz="2595" cap="all">
                <a:solidFill>
                  <a:schemeClr val="tx1"/>
                </a:solidFill>
              </a:defRPr>
            </a:lvl1pPr>
            <a:lvl2pPr marL="6589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179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768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358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2947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537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612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716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3398837" y="8936321"/>
            <a:ext cx="2400301" cy="575134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598" y="8936321"/>
            <a:ext cx="7340937" cy="57513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5913438" y="8936321"/>
            <a:ext cx="826751" cy="57513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"/>
            <a:ext cx="18283237" cy="1043668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"/>
            <a:ext cx="18283237" cy="1043668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2" y="5036395"/>
            <a:ext cx="15197140" cy="2235840"/>
          </a:xfrm>
        </p:spPr>
        <p:txBody>
          <a:bodyPr anchor="b"/>
          <a:lstStyle>
            <a:lvl1pPr algn="l">
              <a:defRPr sz="5765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699" y="7272236"/>
            <a:ext cx="15197142" cy="1309720"/>
          </a:xfrm>
        </p:spPr>
        <p:txBody>
          <a:bodyPr anchor="t">
            <a:normAutofit/>
          </a:bodyPr>
          <a:lstStyle>
            <a:lvl1pPr marL="0" indent="0" algn="l">
              <a:buNone/>
              <a:defRPr sz="2883" cap="all">
                <a:solidFill>
                  <a:schemeClr val="tx1"/>
                </a:solidFill>
              </a:defRPr>
            </a:lvl1pPr>
            <a:lvl2pPr marL="658959" indent="0">
              <a:buNone/>
              <a:defRPr sz="2595">
                <a:solidFill>
                  <a:schemeClr val="tx1">
                    <a:tint val="75000"/>
                  </a:schemeClr>
                </a:solidFill>
              </a:defRPr>
            </a:lvl2pPr>
            <a:lvl3pPr marL="1317918" indent="0">
              <a:buNone/>
              <a:defRPr sz="2306">
                <a:solidFill>
                  <a:schemeClr val="tx1">
                    <a:tint val="75000"/>
                  </a:schemeClr>
                </a:solidFill>
              </a:defRPr>
            </a:lvl3pPr>
            <a:lvl4pPr marL="1976877" indent="0">
              <a:buNone/>
              <a:defRPr sz="2018">
                <a:solidFill>
                  <a:schemeClr val="tx1">
                    <a:tint val="75000"/>
                  </a:schemeClr>
                </a:solidFill>
              </a:defRPr>
            </a:lvl4pPr>
            <a:lvl5pPr marL="2635835" indent="0">
              <a:buNone/>
              <a:defRPr sz="2018">
                <a:solidFill>
                  <a:schemeClr val="tx1">
                    <a:tint val="75000"/>
                  </a:schemeClr>
                </a:solidFill>
              </a:defRPr>
            </a:lvl5pPr>
            <a:lvl6pPr marL="3294795" indent="0">
              <a:buNone/>
              <a:defRPr sz="2018">
                <a:solidFill>
                  <a:schemeClr val="tx1">
                    <a:tint val="75000"/>
                  </a:schemeClr>
                </a:solidFill>
              </a:defRPr>
            </a:lvl6pPr>
            <a:lvl7pPr marL="3953753" indent="0">
              <a:buNone/>
              <a:defRPr sz="2018">
                <a:solidFill>
                  <a:schemeClr val="tx1">
                    <a:tint val="75000"/>
                  </a:schemeClr>
                </a:solidFill>
              </a:defRPr>
            </a:lvl7pPr>
            <a:lvl8pPr marL="4612712" indent="0">
              <a:buNone/>
              <a:defRPr sz="2018">
                <a:solidFill>
                  <a:schemeClr val="tx1">
                    <a:tint val="75000"/>
                  </a:schemeClr>
                </a:solidFill>
              </a:defRPr>
            </a:lvl8pPr>
            <a:lvl9pPr marL="5271669" indent="0">
              <a:buNone/>
              <a:defRPr sz="201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"/>
            <a:ext cx="18283237" cy="1043668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8703" y="3260703"/>
            <a:ext cx="7493001" cy="555479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32843" y="3260704"/>
            <a:ext cx="7492998" cy="555479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0504" y="3376695"/>
            <a:ext cx="7063581" cy="877199"/>
          </a:xfrm>
        </p:spPr>
        <p:txBody>
          <a:bodyPr anchor="b">
            <a:noAutofit/>
          </a:bodyPr>
          <a:lstStyle>
            <a:lvl1pPr marL="0" indent="0">
              <a:buNone/>
              <a:defRPr sz="4035" b="0"/>
            </a:lvl1pPr>
            <a:lvl2pPr marL="658959" indent="0">
              <a:buNone/>
              <a:defRPr sz="2883" b="1"/>
            </a:lvl2pPr>
            <a:lvl3pPr marL="1317918" indent="0">
              <a:buNone/>
              <a:defRPr sz="2595" b="1"/>
            </a:lvl3pPr>
            <a:lvl4pPr marL="1976877" indent="0">
              <a:buNone/>
              <a:defRPr sz="2306" b="1"/>
            </a:lvl4pPr>
            <a:lvl5pPr marL="2635835" indent="0">
              <a:buNone/>
              <a:defRPr sz="2306" b="1"/>
            </a:lvl5pPr>
            <a:lvl6pPr marL="3294795" indent="0">
              <a:buNone/>
              <a:defRPr sz="2306" b="1"/>
            </a:lvl6pPr>
            <a:lvl7pPr marL="3953753" indent="0">
              <a:buNone/>
              <a:defRPr sz="2306" b="1"/>
            </a:lvl7pPr>
            <a:lvl8pPr marL="4612712" indent="0">
              <a:buNone/>
              <a:defRPr sz="2306" b="1"/>
            </a:lvl8pPr>
            <a:lvl9pPr marL="5271669" indent="0">
              <a:buNone/>
              <a:defRPr sz="230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8703" y="4369084"/>
            <a:ext cx="7495385" cy="444640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44007" y="3389584"/>
            <a:ext cx="7084219" cy="877199"/>
          </a:xfrm>
        </p:spPr>
        <p:txBody>
          <a:bodyPr anchor="b">
            <a:noAutofit/>
          </a:bodyPr>
          <a:lstStyle>
            <a:lvl1pPr marL="0" indent="0">
              <a:buNone/>
              <a:defRPr sz="4035" b="0"/>
            </a:lvl1pPr>
            <a:lvl2pPr marL="658959" indent="0">
              <a:buNone/>
              <a:defRPr sz="2883" b="1"/>
            </a:lvl2pPr>
            <a:lvl3pPr marL="1317918" indent="0">
              <a:buNone/>
              <a:defRPr sz="2595" b="1"/>
            </a:lvl3pPr>
            <a:lvl4pPr marL="1976877" indent="0">
              <a:buNone/>
              <a:defRPr sz="2306" b="1"/>
            </a:lvl4pPr>
            <a:lvl5pPr marL="2635835" indent="0">
              <a:buNone/>
              <a:defRPr sz="2306" b="1"/>
            </a:lvl5pPr>
            <a:lvl6pPr marL="3294795" indent="0">
              <a:buNone/>
              <a:defRPr sz="2306" b="1"/>
            </a:lvl6pPr>
            <a:lvl7pPr marL="3953753" indent="0">
              <a:buNone/>
              <a:defRPr sz="2306" b="1"/>
            </a:lvl7pPr>
            <a:lvl8pPr marL="4612712" indent="0">
              <a:buNone/>
              <a:defRPr sz="2306" b="1"/>
            </a:lvl8pPr>
            <a:lvl9pPr marL="5271669" indent="0">
              <a:buNone/>
              <a:defRPr sz="230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735226" y="4369084"/>
            <a:ext cx="7493001" cy="444640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"/>
            <a:ext cx="18283237" cy="1043668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"/>
            <a:ext cx="18283237" cy="10436681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"/>
            <a:ext cx="18283237" cy="1043668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1" y="3157596"/>
            <a:ext cx="5521328" cy="2087881"/>
          </a:xfrm>
        </p:spPr>
        <p:txBody>
          <a:bodyPr anchor="b">
            <a:normAutofit/>
          </a:bodyPr>
          <a:lstStyle>
            <a:lvl1pPr algn="l">
              <a:defRPr sz="345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72303" y="927950"/>
            <a:ext cx="9253539" cy="7887547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8701" y="5245476"/>
            <a:ext cx="5521328" cy="2783840"/>
          </a:xfrm>
        </p:spPr>
        <p:txBody>
          <a:bodyPr anchor="t">
            <a:normAutofit/>
          </a:bodyPr>
          <a:lstStyle>
            <a:lvl1pPr marL="0" indent="0">
              <a:buNone/>
              <a:defRPr sz="2306"/>
            </a:lvl1pPr>
            <a:lvl2pPr marL="658959" indent="0">
              <a:buNone/>
              <a:defRPr sz="1730"/>
            </a:lvl2pPr>
            <a:lvl3pPr marL="1317918" indent="0">
              <a:buNone/>
              <a:defRPr sz="1442"/>
            </a:lvl3pPr>
            <a:lvl4pPr marL="1976877" indent="0">
              <a:buNone/>
              <a:defRPr sz="1297"/>
            </a:lvl4pPr>
            <a:lvl5pPr marL="2635835" indent="0">
              <a:buNone/>
              <a:defRPr sz="1297"/>
            </a:lvl5pPr>
            <a:lvl6pPr marL="3294795" indent="0">
              <a:buNone/>
              <a:defRPr sz="1297"/>
            </a:lvl6pPr>
            <a:lvl7pPr marL="3953753" indent="0">
              <a:buNone/>
              <a:defRPr sz="1297"/>
            </a:lvl7pPr>
            <a:lvl8pPr marL="4612712" indent="0">
              <a:buNone/>
              <a:defRPr sz="1297"/>
            </a:lvl8pPr>
            <a:lvl9pPr marL="5271669" indent="0">
              <a:buNone/>
              <a:defRPr sz="129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"/>
            <a:ext cx="18283237" cy="1043668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2" y="2435862"/>
            <a:ext cx="9246979" cy="2087881"/>
          </a:xfrm>
        </p:spPr>
        <p:txBody>
          <a:bodyPr anchor="b">
            <a:normAutofit/>
          </a:bodyPr>
          <a:lstStyle>
            <a:lvl1pPr algn="l">
              <a:defRPr sz="4035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304379" y="1391919"/>
            <a:ext cx="4921462" cy="69596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306"/>
            </a:lvl1pPr>
            <a:lvl2pPr marL="658959" indent="0">
              <a:buNone/>
              <a:defRPr sz="2306"/>
            </a:lvl2pPr>
            <a:lvl3pPr marL="1317918" indent="0">
              <a:buNone/>
              <a:defRPr sz="2306"/>
            </a:lvl3pPr>
            <a:lvl4pPr marL="1976877" indent="0">
              <a:buNone/>
              <a:defRPr sz="2306"/>
            </a:lvl4pPr>
            <a:lvl5pPr marL="2635835" indent="0">
              <a:buNone/>
              <a:defRPr sz="2306"/>
            </a:lvl5pPr>
            <a:lvl6pPr marL="3294795" indent="0">
              <a:buNone/>
              <a:defRPr sz="2306"/>
            </a:lvl6pPr>
            <a:lvl7pPr marL="3953753" indent="0">
              <a:buNone/>
              <a:defRPr sz="2306"/>
            </a:lvl7pPr>
            <a:lvl8pPr marL="4612712" indent="0">
              <a:buNone/>
              <a:defRPr sz="2306"/>
            </a:lvl8pPr>
            <a:lvl9pPr marL="5271669" indent="0">
              <a:buNone/>
              <a:defRPr sz="230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8702" y="4523740"/>
            <a:ext cx="9246979" cy="2783840"/>
          </a:xfrm>
        </p:spPr>
        <p:txBody>
          <a:bodyPr anchor="t">
            <a:normAutofit/>
          </a:bodyPr>
          <a:lstStyle>
            <a:lvl1pPr marL="0" indent="0">
              <a:buNone/>
              <a:defRPr sz="2595"/>
            </a:lvl1pPr>
            <a:lvl2pPr marL="658959" indent="0">
              <a:buNone/>
              <a:defRPr sz="1730"/>
            </a:lvl2pPr>
            <a:lvl3pPr marL="1317918" indent="0">
              <a:buNone/>
              <a:defRPr sz="1442"/>
            </a:lvl3pPr>
            <a:lvl4pPr marL="1976877" indent="0">
              <a:buNone/>
              <a:defRPr sz="1297"/>
            </a:lvl4pPr>
            <a:lvl5pPr marL="2635835" indent="0">
              <a:buNone/>
              <a:defRPr sz="1297"/>
            </a:lvl5pPr>
            <a:lvl6pPr marL="3294795" indent="0">
              <a:buNone/>
              <a:defRPr sz="1297"/>
            </a:lvl6pPr>
            <a:lvl7pPr marL="3953753" indent="0">
              <a:buNone/>
              <a:defRPr sz="1297"/>
            </a:lvl7pPr>
            <a:lvl8pPr marL="4612712" indent="0">
              <a:buNone/>
              <a:defRPr sz="1297"/>
            </a:lvl8pPr>
            <a:lvl9pPr marL="5271669" indent="0">
              <a:buNone/>
              <a:defRPr sz="129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"/>
            <a:ext cx="18283237" cy="1043668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2" y="7204472"/>
            <a:ext cx="15197140" cy="862702"/>
          </a:xfrm>
        </p:spPr>
        <p:txBody>
          <a:bodyPr anchor="b">
            <a:normAutofit/>
          </a:bodyPr>
          <a:lstStyle>
            <a:lvl1pPr algn="l">
              <a:defRPr sz="345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057401" y="1418882"/>
            <a:ext cx="13139741" cy="481779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306"/>
            </a:lvl1pPr>
            <a:lvl2pPr marL="658959" indent="0">
              <a:buNone/>
              <a:defRPr sz="2306"/>
            </a:lvl2pPr>
            <a:lvl3pPr marL="1317918" indent="0">
              <a:buNone/>
              <a:defRPr sz="2306"/>
            </a:lvl3pPr>
            <a:lvl4pPr marL="1976877" indent="0">
              <a:buNone/>
              <a:defRPr sz="2306"/>
            </a:lvl4pPr>
            <a:lvl5pPr marL="2635835" indent="0">
              <a:buNone/>
              <a:defRPr sz="2306"/>
            </a:lvl5pPr>
            <a:lvl6pPr marL="3294795" indent="0">
              <a:buNone/>
              <a:defRPr sz="2306"/>
            </a:lvl6pPr>
            <a:lvl7pPr marL="3953753" indent="0">
              <a:buNone/>
              <a:defRPr sz="2306"/>
            </a:lvl7pPr>
            <a:lvl8pPr marL="4612712" indent="0">
              <a:buNone/>
              <a:defRPr sz="2306"/>
            </a:lvl8pPr>
            <a:lvl9pPr marL="5271669" indent="0">
              <a:buNone/>
              <a:defRPr sz="230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8702" y="8067175"/>
            <a:ext cx="15197140" cy="751539"/>
          </a:xfrm>
        </p:spPr>
        <p:txBody>
          <a:bodyPr anchor="t">
            <a:normAutofit/>
          </a:bodyPr>
          <a:lstStyle>
            <a:lvl1pPr marL="0" indent="0">
              <a:buNone/>
              <a:defRPr sz="2018"/>
            </a:lvl1pPr>
            <a:lvl2pPr marL="658959" indent="0">
              <a:buNone/>
              <a:defRPr sz="1730"/>
            </a:lvl2pPr>
            <a:lvl3pPr marL="1317918" indent="0">
              <a:buNone/>
              <a:defRPr sz="1442"/>
            </a:lvl3pPr>
            <a:lvl4pPr marL="1976877" indent="0">
              <a:buNone/>
              <a:defRPr sz="1297"/>
            </a:lvl4pPr>
            <a:lvl5pPr marL="2635835" indent="0">
              <a:buNone/>
              <a:defRPr sz="1297"/>
            </a:lvl5pPr>
            <a:lvl6pPr marL="3294795" indent="0">
              <a:buNone/>
              <a:defRPr sz="1297"/>
            </a:lvl6pPr>
            <a:lvl7pPr marL="3953753" indent="0">
              <a:buNone/>
              <a:defRPr sz="1297"/>
            </a:lvl7pPr>
            <a:lvl8pPr marL="4612712" indent="0">
              <a:buNone/>
              <a:defRPr sz="1297"/>
            </a:lvl8pPr>
            <a:lvl9pPr marL="5271669" indent="0">
              <a:buNone/>
              <a:defRPr sz="129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"/>
            <a:ext cx="18283237" cy="1043668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3" y="927949"/>
            <a:ext cx="15197140" cy="4755725"/>
          </a:xfrm>
        </p:spPr>
        <p:txBody>
          <a:bodyPr anchor="ctr">
            <a:normAutofit/>
          </a:bodyPr>
          <a:lstStyle>
            <a:lvl1pPr algn="l">
              <a:defRPr sz="4612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1" y="6611622"/>
            <a:ext cx="15197142" cy="2203873"/>
          </a:xfrm>
        </p:spPr>
        <p:txBody>
          <a:bodyPr anchor="ctr">
            <a:normAutofit/>
          </a:bodyPr>
          <a:lstStyle>
            <a:lvl1pPr marL="0" indent="0" algn="l">
              <a:buNone/>
              <a:defRPr sz="2883">
                <a:solidFill>
                  <a:schemeClr val="tx1"/>
                </a:solidFill>
              </a:defRPr>
            </a:lvl1pPr>
            <a:lvl2pPr marL="658959" indent="0">
              <a:buNone/>
              <a:defRPr sz="2595">
                <a:solidFill>
                  <a:schemeClr val="tx1">
                    <a:tint val="75000"/>
                  </a:schemeClr>
                </a:solidFill>
              </a:defRPr>
            </a:lvl2pPr>
            <a:lvl3pPr marL="1317918" indent="0">
              <a:buNone/>
              <a:defRPr sz="2306">
                <a:solidFill>
                  <a:schemeClr val="tx1">
                    <a:tint val="75000"/>
                  </a:schemeClr>
                </a:solidFill>
              </a:defRPr>
            </a:lvl3pPr>
            <a:lvl4pPr marL="1976877" indent="0">
              <a:buNone/>
              <a:defRPr sz="2018">
                <a:solidFill>
                  <a:schemeClr val="tx1">
                    <a:tint val="75000"/>
                  </a:schemeClr>
                </a:solidFill>
              </a:defRPr>
            </a:lvl4pPr>
            <a:lvl5pPr marL="2635835" indent="0">
              <a:buNone/>
              <a:defRPr sz="2018">
                <a:solidFill>
                  <a:schemeClr val="tx1">
                    <a:tint val="75000"/>
                  </a:schemeClr>
                </a:solidFill>
              </a:defRPr>
            </a:lvl5pPr>
            <a:lvl6pPr marL="3294795" indent="0">
              <a:buNone/>
              <a:defRPr sz="2018">
                <a:solidFill>
                  <a:schemeClr val="tx1">
                    <a:tint val="75000"/>
                  </a:schemeClr>
                </a:solidFill>
              </a:defRPr>
            </a:lvl6pPr>
            <a:lvl7pPr marL="3953753" indent="0">
              <a:buNone/>
              <a:defRPr sz="2018">
                <a:solidFill>
                  <a:schemeClr val="tx1">
                    <a:tint val="75000"/>
                  </a:schemeClr>
                </a:solidFill>
              </a:defRPr>
            </a:lvl7pPr>
            <a:lvl8pPr marL="4612712" indent="0">
              <a:buNone/>
              <a:defRPr sz="2018">
                <a:solidFill>
                  <a:schemeClr val="tx1">
                    <a:tint val="75000"/>
                  </a:schemeClr>
                </a:solidFill>
              </a:defRPr>
            </a:lvl8pPr>
            <a:lvl9pPr marL="5271669" indent="0">
              <a:buNone/>
              <a:defRPr sz="201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"/>
            <a:ext cx="18283237" cy="104366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5356801" y="4175761"/>
            <a:ext cx="914401" cy="890158"/>
          </a:xfrm>
          <a:prstGeom prst="rect">
            <a:avLst/>
          </a:prstGeom>
        </p:spPr>
        <p:txBody>
          <a:bodyPr vert="horz" lIns="131786" tIns="65892" rIns="131786" bIns="65892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1153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2411" y="1253304"/>
            <a:ext cx="914401" cy="890158"/>
          </a:xfrm>
          <a:prstGeom prst="rect">
            <a:avLst/>
          </a:prstGeom>
        </p:spPr>
        <p:txBody>
          <a:bodyPr vert="horz" lIns="131786" tIns="65892" rIns="131786" bIns="65892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1153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8403" y="927950"/>
            <a:ext cx="14325598" cy="4175758"/>
          </a:xfrm>
        </p:spPr>
        <p:txBody>
          <a:bodyPr anchor="ctr">
            <a:normAutofit/>
          </a:bodyPr>
          <a:lstStyle>
            <a:lvl1pPr algn="l">
              <a:defRPr sz="4612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46812" y="5103707"/>
            <a:ext cx="14008777" cy="579967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658959" indent="0">
              <a:buFontTx/>
              <a:buNone/>
              <a:defRPr/>
            </a:lvl2pPr>
            <a:lvl3pPr marL="1317918" indent="0">
              <a:buFontTx/>
              <a:buNone/>
              <a:defRPr/>
            </a:lvl3pPr>
            <a:lvl4pPr marL="1976877" indent="0">
              <a:buFontTx/>
              <a:buNone/>
              <a:defRPr/>
            </a:lvl4pPr>
            <a:lvl5pPr marL="2635835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1199" y="6611622"/>
            <a:ext cx="15228552" cy="2203873"/>
          </a:xfrm>
        </p:spPr>
        <p:txBody>
          <a:bodyPr anchor="ctr">
            <a:normAutofit/>
          </a:bodyPr>
          <a:lstStyle>
            <a:lvl1pPr marL="0" indent="0" algn="l">
              <a:buNone/>
              <a:defRPr sz="2883">
                <a:solidFill>
                  <a:schemeClr val="tx1"/>
                </a:solidFill>
              </a:defRPr>
            </a:lvl1pPr>
            <a:lvl2pPr marL="658959" indent="0">
              <a:buNone/>
              <a:defRPr sz="2595">
                <a:solidFill>
                  <a:schemeClr val="tx1">
                    <a:tint val="75000"/>
                  </a:schemeClr>
                </a:solidFill>
              </a:defRPr>
            </a:lvl2pPr>
            <a:lvl3pPr marL="1317918" indent="0">
              <a:buNone/>
              <a:defRPr sz="2306">
                <a:solidFill>
                  <a:schemeClr val="tx1">
                    <a:tint val="75000"/>
                  </a:schemeClr>
                </a:solidFill>
              </a:defRPr>
            </a:lvl3pPr>
            <a:lvl4pPr marL="1976877" indent="0">
              <a:buNone/>
              <a:defRPr sz="2018">
                <a:solidFill>
                  <a:schemeClr val="tx1">
                    <a:tint val="75000"/>
                  </a:schemeClr>
                </a:solidFill>
              </a:defRPr>
            </a:lvl4pPr>
            <a:lvl5pPr marL="2635835" indent="0">
              <a:buNone/>
              <a:defRPr sz="2018">
                <a:solidFill>
                  <a:schemeClr val="tx1">
                    <a:tint val="75000"/>
                  </a:schemeClr>
                </a:solidFill>
              </a:defRPr>
            </a:lvl5pPr>
            <a:lvl6pPr marL="3294795" indent="0">
              <a:buNone/>
              <a:defRPr sz="2018">
                <a:solidFill>
                  <a:schemeClr val="tx1">
                    <a:tint val="75000"/>
                  </a:schemeClr>
                </a:solidFill>
              </a:defRPr>
            </a:lvl6pPr>
            <a:lvl7pPr marL="3953753" indent="0">
              <a:buNone/>
              <a:defRPr sz="2018">
                <a:solidFill>
                  <a:schemeClr val="tx1">
                    <a:tint val="75000"/>
                  </a:schemeClr>
                </a:solidFill>
              </a:defRPr>
            </a:lvl7pPr>
            <a:lvl8pPr marL="4612712" indent="0">
              <a:buNone/>
              <a:defRPr sz="2018">
                <a:solidFill>
                  <a:schemeClr val="tx1">
                    <a:tint val="75000"/>
                  </a:schemeClr>
                </a:solidFill>
              </a:defRPr>
            </a:lvl8pPr>
            <a:lvl9pPr marL="5271669" indent="0">
              <a:buNone/>
              <a:defRPr sz="201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"/>
            <a:ext cx="18283237" cy="1043668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4" y="5036395"/>
            <a:ext cx="15197138" cy="2235840"/>
          </a:xfrm>
        </p:spPr>
        <p:txBody>
          <a:bodyPr anchor="b">
            <a:normAutofit/>
          </a:bodyPr>
          <a:lstStyle>
            <a:lvl1pPr algn="l">
              <a:defRPr sz="4612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2" y="7272236"/>
            <a:ext cx="15197139" cy="1309720"/>
          </a:xfrm>
        </p:spPr>
        <p:txBody>
          <a:bodyPr anchor="t">
            <a:normAutofit/>
          </a:bodyPr>
          <a:lstStyle>
            <a:lvl1pPr marL="0" indent="0" algn="l">
              <a:buNone/>
              <a:defRPr sz="2883">
                <a:solidFill>
                  <a:schemeClr val="tx1"/>
                </a:solidFill>
              </a:defRPr>
            </a:lvl1pPr>
            <a:lvl2pPr marL="658959" indent="0">
              <a:buNone/>
              <a:defRPr sz="2595">
                <a:solidFill>
                  <a:schemeClr val="tx1">
                    <a:tint val="75000"/>
                  </a:schemeClr>
                </a:solidFill>
              </a:defRPr>
            </a:lvl2pPr>
            <a:lvl3pPr marL="1317918" indent="0">
              <a:buNone/>
              <a:defRPr sz="2306">
                <a:solidFill>
                  <a:schemeClr val="tx1">
                    <a:tint val="75000"/>
                  </a:schemeClr>
                </a:solidFill>
              </a:defRPr>
            </a:lvl3pPr>
            <a:lvl4pPr marL="1976877" indent="0">
              <a:buNone/>
              <a:defRPr sz="2018">
                <a:solidFill>
                  <a:schemeClr val="tx1">
                    <a:tint val="75000"/>
                  </a:schemeClr>
                </a:solidFill>
              </a:defRPr>
            </a:lvl4pPr>
            <a:lvl5pPr marL="2635835" indent="0">
              <a:buNone/>
              <a:defRPr sz="2018">
                <a:solidFill>
                  <a:schemeClr val="tx1">
                    <a:tint val="75000"/>
                  </a:schemeClr>
                </a:solidFill>
              </a:defRPr>
            </a:lvl5pPr>
            <a:lvl6pPr marL="3294795" indent="0">
              <a:buNone/>
              <a:defRPr sz="2018">
                <a:solidFill>
                  <a:schemeClr val="tx1">
                    <a:tint val="75000"/>
                  </a:schemeClr>
                </a:solidFill>
              </a:defRPr>
            </a:lvl6pPr>
            <a:lvl7pPr marL="3953753" indent="0">
              <a:buNone/>
              <a:defRPr sz="2018">
                <a:solidFill>
                  <a:schemeClr val="tx1">
                    <a:tint val="75000"/>
                  </a:schemeClr>
                </a:solidFill>
              </a:defRPr>
            </a:lvl7pPr>
            <a:lvl8pPr marL="4612712" indent="0">
              <a:buNone/>
              <a:defRPr sz="2018">
                <a:solidFill>
                  <a:schemeClr val="tx1">
                    <a:tint val="75000"/>
                  </a:schemeClr>
                </a:solidFill>
              </a:defRPr>
            </a:lvl8pPr>
            <a:lvl9pPr marL="5271669" indent="0">
              <a:buNone/>
              <a:defRPr sz="201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"/>
            <a:ext cx="18283237" cy="1043668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5356801" y="4175761"/>
            <a:ext cx="914401" cy="890158"/>
          </a:xfrm>
          <a:prstGeom prst="rect">
            <a:avLst/>
          </a:prstGeom>
        </p:spPr>
        <p:txBody>
          <a:bodyPr vert="horz" lIns="131786" tIns="65892" rIns="131786" bIns="65892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1153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2411" y="1253304"/>
            <a:ext cx="914401" cy="890158"/>
          </a:xfrm>
          <a:prstGeom prst="rect">
            <a:avLst/>
          </a:prstGeom>
        </p:spPr>
        <p:txBody>
          <a:bodyPr vert="horz" lIns="131786" tIns="65892" rIns="131786" bIns="65892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1153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1488403" y="927950"/>
            <a:ext cx="14325598" cy="4175758"/>
          </a:xfrm>
        </p:spPr>
        <p:txBody>
          <a:bodyPr anchor="ctr">
            <a:normAutofit/>
          </a:bodyPr>
          <a:lstStyle>
            <a:lvl1pPr algn="l">
              <a:defRPr sz="4612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8700" y="5915662"/>
            <a:ext cx="15203154" cy="13532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3459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699" y="7268916"/>
            <a:ext cx="15203154" cy="1546578"/>
          </a:xfrm>
        </p:spPr>
        <p:txBody>
          <a:bodyPr anchor="t">
            <a:normAutofit/>
          </a:bodyPr>
          <a:lstStyle>
            <a:lvl1pPr marL="0" indent="0" algn="l">
              <a:buNone/>
              <a:defRPr sz="2595">
                <a:solidFill>
                  <a:schemeClr val="tx1"/>
                </a:solidFill>
              </a:defRPr>
            </a:lvl1pPr>
            <a:lvl2pPr marL="658959" indent="0">
              <a:buNone/>
              <a:defRPr sz="2595">
                <a:solidFill>
                  <a:schemeClr val="tx1">
                    <a:tint val="75000"/>
                  </a:schemeClr>
                </a:solidFill>
              </a:defRPr>
            </a:lvl2pPr>
            <a:lvl3pPr marL="1317918" indent="0">
              <a:buNone/>
              <a:defRPr sz="2306">
                <a:solidFill>
                  <a:schemeClr val="tx1">
                    <a:tint val="75000"/>
                  </a:schemeClr>
                </a:solidFill>
              </a:defRPr>
            </a:lvl3pPr>
            <a:lvl4pPr marL="1976877" indent="0">
              <a:buNone/>
              <a:defRPr sz="2018">
                <a:solidFill>
                  <a:schemeClr val="tx1">
                    <a:tint val="75000"/>
                  </a:schemeClr>
                </a:solidFill>
              </a:defRPr>
            </a:lvl4pPr>
            <a:lvl5pPr marL="2635835" indent="0">
              <a:buNone/>
              <a:defRPr sz="2018">
                <a:solidFill>
                  <a:schemeClr val="tx1">
                    <a:tint val="75000"/>
                  </a:schemeClr>
                </a:solidFill>
              </a:defRPr>
            </a:lvl5pPr>
            <a:lvl6pPr marL="3294795" indent="0">
              <a:buNone/>
              <a:defRPr sz="2018">
                <a:solidFill>
                  <a:schemeClr val="tx1">
                    <a:tint val="75000"/>
                  </a:schemeClr>
                </a:solidFill>
              </a:defRPr>
            </a:lvl6pPr>
            <a:lvl7pPr marL="3953753" indent="0">
              <a:buNone/>
              <a:defRPr sz="2018">
                <a:solidFill>
                  <a:schemeClr val="tx1">
                    <a:tint val="75000"/>
                  </a:schemeClr>
                </a:solidFill>
              </a:defRPr>
            </a:lvl7pPr>
            <a:lvl8pPr marL="4612712" indent="0">
              <a:buNone/>
              <a:defRPr sz="2018">
                <a:solidFill>
                  <a:schemeClr val="tx1">
                    <a:tint val="75000"/>
                  </a:schemeClr>
                </a:solidFill>
              </a:defRPr>
            </a:lvl8pPr>
            <a:lvl9pPr marL="5271669" indent="0">
              <a:buNone/>
              <a:defRPr sz="201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"/>
            <a:ext cx="18283237" cy="1043668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3" y="927950"/>
            <a:ext cx="15197140" cy="417575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8702" y="5335694"/>
            <a:ext cx="15197142" cy="127592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4035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1" y="6611622"/>
            <a:ext cx="15197142" cy="2203873"/>
          </a:xfrm>
        </p:spPr>
        <p:txBody>
          <a:bodyPr anchor="t">
            <a:normAutofit/>
          </a:bodyPr>
          <a:lstStyle>
            <a:lvl1pPr marL="0" indent="0" algn="l">
              <a:buNone/>
              <a:defRPr sz="2595">
                <a:solidFill>
                  <a:schemeClr val="tx1"/>
                </a:solidFill>
              </a:defRPr>
            </a:lvl1pPr>
            <a:lvl2pPr marL="658959" indent="0">
              <a:buNone/>
              <a:defRPr sz="2595">
                <a:solidFill>
                  <a:schemeClr val="tx1">
                    <a:tint val="75000"/>
                  </a:schemeClr>
                </a:solidFill>
              </a:defRPr>
            </a:lvl2pPr>
            <a:lvl3pPr marL="1317918" indent="0">
              <a:buNone/>
              <a:defRPr sz="2306">
                <a:solidFill>
                  <a:schemeClr val="tx1">
                    <a:tint val="75000"/>
                  </a:schemeClr>
                </a:solidFill>
              </a:defRPr>
            </a:lvl3pPr>
            <a:lvl4pPr marL="1976877" indent="0">
              <a:buNone/>
              <a:defRPr sz="2018">
                <a:solidFill>
                  <a:schemeClr val="tx1">
                    <a:tint val="75000"/>
                  </a:schemeClr>
                </a:solidFill>
              </a:defRPr>
            </a:lvl4pPr>
            <a:lvl5pPr marL="2635835" indent="0">
              <a:buNone/>
              <a:defRPr sz="2018">
                <a:solidFill>
                  <a:schemeClr val="tx1">
                    <a:tint val="75000"/>
                  </a:schemeClr>
                </a:solidFill>
              </a:defRPr>
            </a:lvl5pPr>
            <a:lvl6pPr marL="3294795" indent="0">
              <a:buNone/>
              <a:defRPr sz="2018">
                <a:solidFill>
                  <a:schemeClr val="tx1">
                    <a:tint val="75000"/>
                  </a:schemeClr>
                </a:solidFill>
              </a:defRPr>
            </a:lvl6pPr>
            <a:lvl7pPr marL="3953753" indent="0">
              <a:buNone/>
              <a:defRPr sz="2018">
                <a:solidFill>
                  <a:schemeClr val="tx1">
                    <a:tint val="75000"/>
                  </a:schemeClr>
                </a:solidFill>
              </a:defRPr>
            </a:lvl7pPr>
            <a:lvl8pPr marL="4612712" indent="0">
              <a:buNone/>
              <a:defRPr sz="2018">
                <a:solidFill>
                  <a:schemeClr val="tx1">
                    <a:tint val="75000"/>
                  </a:schemeClr>
                </a:solidFill>
              </a:defRPr>
            </a:lvl8pPr>
            <a:lvl9pPr marL="5271669" indent="0">
              <a:buNone/>
              <a:defRPr sz="201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"/>
            <a:ext cx="18283237" cy="10436681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028703" y="927950"/>
            <a:ext cx="15197138" cy="22167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"/>
            <a:ext cx="18283237" cy="10436681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988013" y="927945"/>
            <a:ext cx="3237828" cy="788754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1" y="927948"/>
            <a:ext cx="11748174" cy="7887547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8703" y="927950"/>
            <a:ext cx="15197138" cy="2216761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3" y="3260704"/>
            <a:ext cx="15197138" cy="55547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884490" y="8936321"/>
            <a:ext cx="2400301" cy="5751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2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28702" y="8936321"/>
            <a:ext cx="11741488" cy="5751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2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399092" y="8936321"/>
            <a:ext cx="826751" cy="5751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2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658959" rtl="0" eaLnBrk="1" latinLnBrk="0" hangingPunct="1">
        <a:spcBef>
          <a:spcPct val="0"/>
        </a:spcBef>
        <a:buNone/>
        <a:defRPr sz="5189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11849" indent="-411849" algn="l" defTabSz="658959" rtl="0" eaLnBrk="1" latinLnBrk="0" hangingPunct="1">
        <a:spcBef>
          <a:spcPts val="0"/>
        </a:spcBef>
        <a:spcAft>
          <a:spcPts val="1442"/>
        </a:spcAft>
        <a:buClr>
          <a:schemeClr val="tx1"/>
        </a:buClr>
        <a:buSzPct val="100000"/>
        <a:buFont typeface="Arial"/>
        <a:buChar char="•"/>
        <a:defRPr sz="2595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1070808" indent="-411849" algn="l" defTabSz="658959" rtl="0" eaLnBrk="1" latinLnBrk="0" hangingPunct="1">
        <a:spcBef>
          <a:spcPts val="0"/>
        </a:spcBef>
        <a:spcAft>
          <a:spcPts val="1442"/>
        </a:spcAft>
        <a:buClr>
          <a:schemeClr val="tx1"/>
        </a:buClr>
        <a:buSzPct val="100000"/>
        <a:buFont typeface="Arial"/>
        <a:buChar char="•"/>
        <a:defRPr sz="2306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729766" indent="-411849" algn="l" defTabSz="658959" rtl="0" eaLnBrk="1" latinLnBrk="0" hangingPunct="1">
        <a:spcBef>
          <a:spcPts val="0"/>
        </a:spcBef>
        <a:spcAft>
          <a:spcPts val="1442"/>
        </a:spcAft>
        <a:buClr>
          <a:schemeClr val="tx1"/>
        </a:buClr>
        <a:buSzPct val="100000"/>
        <a:buFont typeface="Arial"/>
        <a:buChar char="•"/>
        <a:defRPr sz="2018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2223986" indent="-247109" algn="l" defTabSz="658959" rtl="0" eaLnBrk="1" latinLnBrk="0" hangingPunct="1">
        <a:spcBef>
          <a:spcPts val="0"/>
        </a:spcBef>
        <a:spcAft>
          <a:spcPts val="1442"/>
        </a:spcAft>
        <a:buClr>
          <a:schemeClr val="tx1"/>
        </a:buClr>
        <a:buSzPct val="100000"/>
        <a:buFont typeface="Arial"/>
        <a:buChar char="•"/>
        <a:defRPr sz="173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882945" indent="-247109" algn="l" defTabSz="658959" rtl="0" eaLnBrk="1" latinLnBrk="0" hangingPunct="1">
        <a:spcBef>
          <a:spcPts val="0"/>
        </a:spcBef>
        <a:spcAft>
          <a:spcPts val="1442"/>
        </a:spcAft>
        <a:buClr>
          <a:schemeClr val="tx1"/>
        </a:buClr>
        <a:buSzPct val="100000"/>
        <a:buFont typeface="Arial"/>
        <a:buChar char="•"/>
        <a:defRPr sz="173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3624273" indent="-329479" algn="l" defTabSz="658959" rtl="0" eaLnBrk="1" latinLnBrk="0" hangingPunct="1">
        <a:spcBef>
          <a:spcPts val="0"/>
        </a:spcBef>
        <a:spcAft>
          <a:spcPts val="1442"/>
        </a:spcAft>
        <a:buClr>
          <a:schemeClr val="tx1"/>
        </a:buClr>
        <a:buSzPct val="100000"/>
        <a:buFont typeface="Arial"/>
        <a:buChar char="•"/>
        <a:defRPr sz="173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4283232" indent="-329479" algn="l" defTabSz="658959" rtl="0" eaLnBrk="1" latinLnBrk="0" hangingPunct="1">
        <a:spcBef>
          <a:spcPts val="0"/>
        </a:spcBef>
        <a:spcAft>
          <a:spcPts val="1442"/>
        </a:spcAft>
        <a:buClr>
          <a:schemeClr val="tx1"/>
        </a:buClr>
        <a:buSzPct val="100000"/>
        <a:buFont typeface="Arial"/>
        <a:buChar char="•"/>
        <a:defRPr sz="173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4942191" indent="-329479" algn="l" defTabSz="658959" rtl="0" eaLnBrk="1" latinLnBrk="0" hangingPunct="1">
        <a:spcBef>
          <a:spcPts val="0"/>
        </a:spcBef>
        <a:spcAft>
          <a:spcPts val="1442"/>
        </a:spcAft>
        <a:buClr>
          <a:schemeClr val="tx1"/>
        </a:buClr>
        <a:buSzPct val="100000"/>
        <a:buFont typeface="Arial"/>
        <a:buChar char="•"/>
        <a:defRPr sz="173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5601150" indent="-329479" algn="l" defTabSz="658959" rtl="0" eaLnBrk="1" latinLnBrk="0" hangingPunct="1">
        <a:spcBef>
          <a:spcPts val="0"/>
        </a:spcBef>
        <a:spcAft>
          <a:spcPts val="1442"/>
        </a:spcAft>
        <a:buClr>
          <a:schemeClr val="tx1"/>
        </a:buClr>
        <a:buSzPct val="100000"/>
        <a:buFont typeface="Arial"/>
        <a:buChar char="•"/>
        <a:defRPr sz="173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58959" rtl="0" eaLnBrk="1" latinLnBrk="0" hangingPunct="1">
        <a:defRPr sz="2595" kern="1200">
          <a:solidFill>
            <a:schemeClr val="tx1"/>
          </a:solidFill>
          <a:latin typeface="+mn-lt"/>
          <a:ea typeface="+mn-ea"/>
          <a:cs typeface="+mn-cs"/>
        </a:defRPr>
      </a:lvl1pPr>
      <a:lvl2pPr marL="658959" algn="l" defTabSz="658959" rtl="0" eaLnBrk="1" latinLnBrk="0" hangingPunct="1">
        <a:defRPr sz="2595" kern="1200">
          <a:solidFill>
            <a:schemeClr val="tx1"/>
          </a:solidFill>
          <a:latin typeface="+mn-lt"/>
          <a:ea typeface="+mn-ea"/>
          <a:cs typeface="+mn-cs"/>
        </a:defRPr>
      </a:lvl2pPr>
      <a:lvl3pPr marL="1317918" algn="l" defTabSz="658959" rtl="0" eaLnBrk="1" latinLnBrk="0" hangingPunct="1">
        <a:defRPr sz="2595" kern="1200">
          <a:solidFill>
            <a:schemeClr val="tx1"/>
          </a:solidFill>
          <a:latin typeface="+mn-lt"/>
          <a:ea typeface="+mn-ea"/>
          <a:cs typeface="+mn-cs"/>
        </a:defRPr>
      </a:lvl3pPr>
      <a:lvl4pPr marL="1976877" algn="l" defTabSz="658959" rtl="0" eaLnBrk="1" latinLnBrk="0" hangingPunct="1">
        <a:defRPr sz="2595" kern="1200">
          <a:solidFill>
            <a:schemeClr val="tx1"/>
          </a:solidFill>
          <a:latin typeface="+mn-lt"/>
          <a:ea typeface="+mn-ea"/>
          <a:cs typeface="+mn-cs"/>
        </a:defRPr>
      </a:lvl4pPr>
      <a:lvl5pPr marL="2635835" algn="l" defTabSz="658959" rtl="0" eaLnBrk="1" latinLnBrk="0" hangingPunct="1">
        <a:defRPr sz="2595" kern="1200">
          <a:solidFill>
            <a:schemeClr val="tx1"/>
          </a:solidFill>
          <a:latin typeface="+mn-lt"/>
          <a:ea typeface="+mn-ea"/>
          <a:cs typeface="+mn-cs"/>
        </a:defRPr>
      </a:lvl5pPr>
      <a:lvl6pPr marL="3294795" algn="l" defTabSz="658959" rtl="0" eaLnBrk="1" latinLnBrk="0" hangingPunct="1">
        <a:defRPr sz="2595" kern="1200">
          <a:solidFill>
            <a:schemeClr val="tx1"/>
          </a:solidFill>
          <a:latin typeface="+mn-lt"/>
          <a:ea typeface="+mn-ea"/>
          <a:cs typeface="+mn-cs"/>
        </a:defRPr>
      </a:lvl6pPr>
      <a:lvl7pPr marL="3953753" algn="l" defTabSz="658959" rtl="0" eaLnBrk="1" latinLnBrk="0" hangingPunct="1">
        <a:defRPr sz="2595" kern="1200">
          <a:solidFill>
            <a:schemeClr val="tx1"/>
          </a:solidFill>
          <a:latin typeface="+mn-lt"/>
          <a:ea typeface="+mn-ea"/>
          <a:cs typeface="+mn-cs"/>
        </a:defRPr>
      </a:lvl7pPr>
      <a:lvl8pPr marL="4612712" algn="l" defTabSz="658959" rtl="0" eaLnBrk="1" latinLnBrk="0" hangingPunct="1">
        <a:defRPr sz="2595" kern="1200">
          <a:solidFill>
            <a:schemeClr val="tx1"/>
          </a:solidFill>
          <a:latin typeface="+mn-lt"/>
          <a:ea typeface="+mn-ea"/>
          <a:cs typeface="+mn-cs"/>
        </a:defRPr>
      </a:lvl8pPr>
      <a:lvl9pPr marL="5271669" algn="l" defTabSz="658959" rtl="0" eaLnBrk="1" latinLnBrk="0" hangingPunct="1">
        <a:defRPr sz="259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0F425-1448-71AA-3510-F19D1E30BF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00105" y="2095893"/>
            <a:ext cx="9905187" cy="3489879"/>
          </a:xfrm>
        </p:spPr>
        <p:txBody>
          <a:bodyPr>
            <a:normAutofit/>
          </a:bodyPr>
          <a:lstStyle/>
          <a:p>
            <a:pPr algn="ctr"/>
            <a:r>
              <a:rPr lang="en-US" sz="10377" b="1" cap="non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IT Ticket </a:t>
            </a:r>
            <a:br>
              <a:rPr lang="en-US" sz="10377" b="1" cap="non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en-US" sz="10377" b="1" cap="non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Analysis </a:t>
            </a:r>
            <a:endParaRPr lang="en-IN" sz="10377" b="1" cap="none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720E9-9F21-C7E3-F6E9-58C287691E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00105" y="6028005"/>
            <a:ext cx="10373554" cy="2025597"/>
          </a:xfrm>
        </p:spPr>
        <p:txBody>
          <a:bodyPr/>
          <a:lstStyle/>
          <a:p>
            <a:r>
              <a:rPr lang="en-US" sz="2883" b="1" cap="non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“Enhancing IT Support Efficiency through Data-Driven Insights”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6BE455-F35A-AA2B-AF2F-D0B43F0C19E8}"/>
              </a:ext>
            </a:extLst>
          </p:cNvPr>
          <p:cNvSpPr txBox="1"/>
          <p:nvPr/>
        </p:nvSpPr>
        <p:spPr>
          <a:xfrm>
            <a:off x="6352595" y="9006769"/>
            <a:ext cx="6801845" cy="967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795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Presented  by – TEJAS K R</a:t>
            </a:r>
          </a:p>
          <a:p>
            <a:endParaRPr lang="en-IN" sz="2795" dirty="0"/>
          </a:p>
        </p:txBody>
      </p:sp>
    </p:spTree>
    <p:extLst>
      <p:ext uri="{BB962C8B-B14F-4D97-AF65-F5344CB8AC3E}">
        <p14:creationId xmlns:p14="http://schemas.microsoft.com/office/powerpoint/2010/main" val="1251964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C24D9-3299-1155-27CB-D4D542386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931" y="4561308"/>
            <a:ext cx="14601681" cy="2098810"/>
          </a:xfrm>
        </p:spPr>
        <p:txBody>
          <a:bodyPr>
            <a:normAutofit fontScale="90000"/>
          </a:bodyPr>
          <a:lstStyle/>
          <a:p>
            <a:r>
              <a:rPr lang="en-US" sz="1153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Agenda</a:t>
            </a:r>
            <a:br>
              <a:rPr lang="en-IN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993DC-ABA9-E3AF-D4A3-B073E7106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26772" y="2783171"/>
            <a:ext cx="14601681" cy="5259228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4035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Problem Statement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4035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 Description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4035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Objective Key Metrics and </a:t>
            </a:r>
            <a:r>
              <a:rPr lang="en-US" sz="4035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Visualisations</a:t>
            </a:r>
            <a:endParaRPr lang="en-US" sz="4035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4035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Insights and Recommendations</a:t>
            </a:r>
            <a:endParaRPr lang="en-IN" sz="4035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026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 descr="Downward trend graph with solid fill">
            <a:extLst>
              <a:ext uri="{FF2B5EF4-FFF2-40B4-BE49-F238E27FC236}">
                <a16:creationId xmlns:a16="http://schemas.microsoft.com/office/drawing/2014/main" id="{DA93B4FE-7012-1EFA-44C2-288B0598CF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8283" y="345044"/>
            <a:ext cx="17383169" cy="988393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F2B8457-02EA-341E-FFB5-C974FFE2A5E8}"/>
              </a:ext>
            </a:extLst>
          </p:cNvPr>
          <p:cNvSpPr txBox="1"/>
          <p:nvPr/>
        </p:nvSpPr>
        <p:spPr>
          <a:xfrm>
            <a:off x="546550" y="2491711"/>
            <a:ext cx="17383169" cy="5502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648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"Industry benchmarks reveal that IT downtime costs companies an average of $5,600 for every minute of interruption."</a:t>
            </a:r>
            <a:endParaRPr lang="en-IN" sz="8648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Graphic 7" descr="Coins with solid fill">
            <a:extLst>
              <a:ext uri="{FF2B5EF4-FFF2-40B4-BE49-F238E27FC236}">
                <a16:creationId xmlns:a16="http://schemas.microsoft.com/office/drawing/2014/main" id="{C9D6B015-C6CE-32AC-43D1-FA7AE5A5C1B0}"/>
              </a:ext>
            </a:extLst>
          </p:cNvPr>
          <p:cNvSpPr/>
          <p:nvPr/>
        </p:nvSpPr>
        <p:spPr>
          <a:xfrm>
            <a:off x="15920642" y="8858149"/>
            <a:ext cx="1153199" cy="988392"/>
          </a:xfrm>
          <a:custGeom>
            <a:avLst/>
            <a:gdLst>
              <a:gd name="connsiteX0" fmla="*/ 743903 w 800151"/>
              <a:gd name="connsiteY0" fmla="*/ 571500 h 685800"/>
              <a:gd name="connsiteX1" fmla="*/ 705803 w 800151"/>
              <a:gd name="connsiteY1" fmla="*/ 603885 h 685800"/>
              <a:gd name="connsiteX2" fmla="*/ 705803 w 800151"/>
              <a:gd name="connsiteY2" fmla="*/ 569595 h 685800"/>
              <a:gd name="connsiteX3" fmla="*/ 743903 w 800151"/>
              <a:gd name="connsiteY3" fmla="*/ 554355 h 685800"/>
              <a:gd name="connsiteX4" fmla="*/ 743903 w 800151"/>
              <a:gd name="connsiteY4" fmla="*/ 571500 h 685800"/>
              <a:gd name="connsiteX5" fmla="*/ 667703 w 800151"/>
              <a:gd name="connsiteY5" fmla="*/ 508635 h 685800"/>
              <a:gd name="connsiteX6" fmla="*/ 667703 w 800151"/>
              <a:gd name="connsiteY6" fmla="*/ 474345 h 685800"/>
              <a:gd name="connsiteX7" fmla="*/ 705803 w 800151"/>
              <a:gd name="connsiteY7" fmla="*/ 459105 h 685800"/>
              <a:gd name="connsiteX8" fmla="*/ 705803 w 800151"/>
              <a:gd name="connsiteY8" fmla="*/ 476250 h 685800"/>
              <a:gd name="connsiteX9" fmla="*/ 667703 w 800151"/>
              <a:gd name="connsiteY9" fmla="*/ 508635 h 685800"/>
              <a:gd name="connsiteX10" fmla="*/ 667703 w 800151"/>
              <a:gd name="connsiteY10" fmla="*/ 615315 h 685800"/>
              <a:gd name="connsiteX11" fmla="*/ 629603 w 800151"/>
              <a:gd name="connsiteY11" fmla="*/ 621983 h 685800"/>
              <a:gd name="connsiteX12" fmla="*/ 629603 w 800151"/>
              <a:gd name="connsiteY12" fmla="*/ 584835 h 685800"/>
              <a:gd name="connsiteX13" fmla="*/ 667703 w 800151"/>
              <a:gd name="connsiteY13" fmla="*/ 579120 h 685800"/>
              <a:gd name="connsiteX14" fmla="*/ 667703 w 800151"/>
              <a:gd name="connsiteY14" fmla="*/ 615315 h 685800"/>
              <a:gd name="connsiteX15" fmla="*/ 591503 w 800151"/>
              <a:gd name="connsiteY15" fmla="*/ 489585 h 685800"/>
              <a:gd name="connsiteX16" fmla="*/ 629603 w 800151"/>
              <a:gd name="connsiteY16" fmla="*/ 483870 h 685800"/>
              <a:gd name="connsiteX17" fmla="*/ 629603 w 800151"/>
              <a:gd name="connsiteY17" fmla="*/ 520065 h 685800"/>
              <a:gd name="connsiteX18" fmla="*/ 591503 w 800151"/>
              <a:gd name="connsiteY18" fmla="*/ 526733 h 685800"/>
              <a:gd name="connsiteX19" fmla="*/ 591503 w 800151"/>
              <a:gd name="connsiteY19" fmla="*/ 489585 h 685800"/>
              <a:gd name="connsiteX20" fmla="*/ 591503 w 800151"/>
              <a:gd name="connsiteY20" fmla="*/ 626745 h 685800"/>
              <a:gd name="connsiteX21" fmla="*/ 553403 w 800151"/>
              <a:gd name="connsiteY21" fmla="*/ 628650 h 685800"/>
              <a:gd name="connsiteX22" fmla="*/ 553403 w 800151"/>
              <a:gd name="connsiteY22" fmla="*/ 590550 h 685800"/>
              <a:gd name="connsiteX23" fmla="*/ 591503 w 800151"/>
              <a:gd name="connsiteY23" fmla="*/ 588645 h 685800"/>
              <a:gd name="connsiteX24" fmla="*/ 591503 w 800151"/>
              <a:gd name="connsiteY24" fmla="*/ 626745 h 685800"/>
              <a:gd name="connsiteX25" fmla="*/ 515303 w 800151"/>
              <a:gd name="connsiteY25" fmla="*/ 533400 h 685800"/>
              <a:gd name="connsiteX26" fmla="*/ 515303 w 800151"/>
              <a:gd name="connsiteY26" fmla="*/ 495300 h 685800"/>
              <a:gd name="connsiteX27" fmla="*/ 553403 w 800151"/>
              <a:gd name="connsiteY27" fmla="*/ 493395 h 685800"/>
              <a:gd name="connsiteX28" fmla="*/ 553403 w 800151"/>
              <a:gd name="connsiteY28" fmla="*/ 531495 h 685800"/>
              <a:gd name="connsiteX29" fmla="*/ 515303 w 800151"/>
              <a:gd name="connsiteY29" fmla="*/ 533400 h 685800"/>
              <a:gd name="connsiteX30" fmla="*/ 515303 w 800151"/>
              <a:gd name="connsiteY30" fmla="*/ 628650 h 685800"/>
              <a:gd name="connsiteX31" fmla="*/ 477203 w 800151"/>
              <a:gd name="connsiteY31" fmla="*/ 626745 h 685800"/>
              <a:gd name="connsiteX32" fmla="*/ 477203 w 800151"/>
              <a:gd name="connsiteY32" fmla="*/ 590550 h 685800"/>
              <a:gd name="connsiteX33" fmla="*/ 496253 w 800151"/>
              <a:gd name="connsiteY33" fmla="*/ 590550 h 685800"/>
              <a:gd name="connsiteX34" fmla="*/ 515303 w 800151"/>
              <a:gd name="connsiteY34" fmla="*/ 590550 h 685800"/>
              <a:gd name="connsiteX35" fmla="*/ 515303 w 800151"/>
              <a:gd name="connsiteY35" fmla="*/ 628650 h 685800"/>
              <a:gd name="connsiteX36" fmla="*/ 439103 w 800151"/>
              <a:gd name="connsiteY36" fmla="*/ 493395 h 685800"/>
              <a:gd name="connsiteX37" fmla="*/ 477203 w 800151"/>
              <a:gd name="connsiteY37" fmla="*/ 495300 h 685800"/>
              <a:gd name="connsiteX38" fmla="*/ 477203 w 800151"/>
              <a:gd name="connsiteY38" fmla="*/ 533400 h 685800"/>
              <a:gd name="connsiteX39" fmla="*/ 439103 w 800151"/>
              <a:gd name="connsiteY39" fmla="*/ 531495 h 685800"/>
              <a:gd name="connsiteX40" fmla="*/ 439103 w 800151"/>
              <a:gd name="connsiteY40" fmla="*/ 493395 h 685800"/>
              <a:gd name="connsiteX41" fmla="*/ 439103 w 800151"/>
              <a:gd name="connsiteY41" fmla="*/ 621983 h 685800"/>
              <a:gd name="connsiteX42" fmla="*/ 401003 w 800151"/>
              <a:gd name="connsiteY42" fmla="*/ 615315 h 685800"/>
              <a:gd name="connsiteX43" fmla="*/ 401003 w 800151"/>
              <a:gd name="connsiteY43" fmla="*/ 584835 h 685800"/>
              <a:gd name="connsiteX44" fmla="*/ 439103 w 800151"/>
              <a:gd name="connsiteY44" fmla="*/ 588645 h 685800"/>
              <a:gd name="connsiteX45" fmla="*/ 439103 w 800151"/>
              <a:gd name="connsiteY45" fmla="*/ 621983 h 685800"/>
              <a:gd name="connsiteX46" fmla="*/ 362903 w 800151"/>
              <a:gd name="connsiteY46" fmla="*/ 520065 h 685800"/>
              <a:gd name="connsiteX47" fmla="*/ 362903 w 800151"/>
              <a:gd name="connsiteY47" fmla="*/ 482918 h 685800"/>
              <a:gd name="connsiteX48" fmla="*/ 401003 w 800151"/>
              <a:gd name="connsiteY48" fmla="*/ 488633 h 685800"/>
              <a:gd name="connsiteX49" fmla="*/ 401003 w 800151"/>
              <a:gd name="connsiteY49" fmla="*/ 526733 h 685800"/>
              <a:gd name="connsiteX50" fmla="*/ 362903 w 800151"/>
              <a:gd name="connsiteY50" fmla="*/ 520065 h 685800"/>
              <a:gd name="connsiteX51" fmla="*/ 362903 w 800151"/>
              <a:gd name="connsiteY51" fmla="*/ 603885 h 685800"/>
              <a:gd name="connsiteX52" fmla="*/ 324803 w 800151"/>
              <a:gd name="connsiteY52" fmla="*/ 571500 h 685800"/>
              <a:gd name="connsiteX53" fmla="*/ 324803 w 800151"/>
              <a:gd name="connsiteY53" fmla="*/ 569595 h 685800"/>
              <a:gd name="connsiteX54" fmla="*/ 325755 w 800151"/>
              <a:gd name="connsiteY54" fmla="*/ 569595 h 685800"/>
              <a:gd name="connsiteX55" fmla="*/ 333375 w 800151"/>
              <a:gd name="connsiteY55" fmla="*/ 571500 h 685800"/>
              <a:gd name="connsiteX56" fmla="*/ 362903 w 800151"/>
              <a:gd name="connsiteY56" fmla="*/ 578168 h 685800"/>
              <a:gd name="connsiteX57" fmla="*/ 362903 w 800151"/>
              <a:gd name="connsiteY57" fmla="*/ 603885 h 685800"/>
              <a:gd name="connsiteX58" fmla="*/ 210503 w 800151"/>
              <a:gd name="connsiteY58" fmla="*/ 474345 h 685800"/>
              <a:gd name="connsiteX59" fmla="*/ 229553 w 800151"/>
              <a:gd name="connsiteY59" fmla="*/ 475298 h 685800"/>
              <a:gd name="connsiteX60" fmla="*/ 229553 w 800151"/>
              <a:gd name="connsiteY60" fmla="*/ 476250 h 685800"/>
              <a:gd name="connsiteX61" fmla="*/ 239078 w 800151"/>
              <a:gd name="connsiteY61" fmla="*/ 513398 h 685800"/>
              <a:gd name="connsiteX62" fmla="*/ 210503 w 800151"/>
              <a:gd name="connsiteY62" fmla="*/ 511492 h 685800"/>
              <a:gd name="connsiteX63" fmla="*/ 210503 w 800151"/>
              <a:gd name="connsiteY63" fmla="*/ 474345 h 685800"/>
              <a:gd name="connsiteX64" fmla="*/ 172403 w 800151"/>
              <a:gd name="connsiteY64" fmla="*/ 360045 h 685800"/>
              <a:gd name="connsiteX65" fmla="*/ 210503 w 800151"/>
              <a:gd name="connsiteY65" fmla="*/ 365760 h 685800"/>
              <a:gd name="connsiteX66" fmla="*/ 210503 w 800151"/>
              <a:gd name="connsiteY66" fmla="*/ 403860 h 685800"/>
              <a:gd name="connsiteX67" fmla="*/ 172403 w 800151"/>
              <a:gd name="connsiteY67" fmla="*/ 397193 h 685800"/>
              <a:gd name="connsiteX68" fmla="*/ 172403 w 800151"/>
              <a:gd name="connsiteY68" fmla="*/ 360045 h 685800"/>
              <a:gd name="connsiteX69" fmla="*/ 172403 w 800151"/>
              <a:gd name="connsiteY69" fmla="*/ 507683 h 685800"/>
              <a:gd name="connsiteX70" fmla="*/ 134303 w 800151"/>
              <a:gd name="connsiteY70" fmla="*/ 501015 h 685800"/>
              <a:gd name="connsiteX71" fmla="*/ 134303 w 800151"/>
              <a:gd name="connsiteY71" fmla="*/ 463868 h 685800"/>
              <a:gd name="connsiteX72" fmla="*/ 172403 w 800151"/>
              <a:gd name="connsiteY72" fmla="*/ 469583 h 685800"/>
              <a:gd name="connsiteX73" fmla="*/ 172403 w 800151"/>
              <a:gd name="connsiteY73" fmla="*/ 507683 h 685800"/>
              <a:gd name="connsiteX74" fmla="*/ 96203 w 800151"/>
              <a:gd name="connsiteY74" fmla="*/ 352425 h 685800"/>
              <a:gd name="connsiteX75" fmla="*/ 96203 w 800151"/>
              <a:gd name="connsiteY75" fmla="*/ 335280 h 685800"/>
              <a:gd name="connsiteX76" fmla="*/ 134303 w 800151"/>
              <a:gd name="connsiteY76" fmla="*/ 349568 h 685800"/>
              <a:gd name="connsiteX77" fmla="*/ 134303 w 800151"/>
              <a:gd name="connsiteY77" fmla="*/ 384810 h 685800"/>
              <a:gd name="connsiteX78" fmla="*/ 96203 w 800151"/>
              <a:gd name="connsiteY78" fmla="*/ 352425 h 685800"/>
              <a:gd name="connsiteX79" fmla="*/ 96203 w 800151"/>
              <a:gd name="connsiteY79" fmla="*/ 489585 h 685800"/>
              <a:gd name="connsiteX80" fmla="*/ 58103 w 800151"/>
              <a:gd name="connsiteY80" fmla="*/ 457200 h 685800"/>
              <a:gd name="connsiteX81" fmla="*/ 58103 w 800151"/>
              <a:gd name="connsiteY81" fmla="*/ 440055 h 685800"/>
              <a:gd name="connsiteX82" fmla="*/ 96203 w 800151"/>
              <a:gd name="connsiteY82" fmla="*/ 454343 h 685800"/>
              <a:gd name="connsiteX83" fmla="*/ 96203 w 800151"/>
              <a:gd name="connsiteY83" fmla="*/ 489585 h 685800"/>
              <a:gd name="connsiteX84" fmla="*/ 58103 w 800151"/>
              <a:gd name="connsiteY84" fmla="*/ 192405 h 685800"/>
              <a:gd name="connsiteX85" fmla="*/ 96203 w 800151"/>
              <a:gd name="connsiteY85" fmla="*/ 206693 h 685800"/>
              <a:gd name="connsiteX86" fmla="*/ 96203 w 800151"/>
              <a:gd name="connsiteY86" fmla="*/ 241935 h 685800"/>
              <a:gd name="connsiteX87" fmla="*/ 58103 w 800151"/>
              <a:gd name="connsiteY87" fmla="*/ 209550 h 685800"/>
              <a:gd name="connsiteX88" fmla="*/ 58103 w 800151"/>
              <a:gd name="connsiteY88" fmla="*/ 192405 h 685800"/>
              <a:gd name="connsiteX89" fmla="*/ 172403 w 800151"/>
              <a:gd name="connsiteY89" fmla="*/ 222885 h 685800"/>
              <a:gd name="connsiteX90" fmla="*/ 172403 w 800151"/>
              <a:gd name="connsiteY90" fmla="*/ 260985 h 685800"/>
              <a:gd name="connsiteX91" fmla="*/ 134303 w 800151"/>
              <a:gd name="connsiteY91" fmla="*/ 254318 h 685800"/>
              <a:gd name="connsiteX92" fmla="*/ 134303 w 800151"/>
              <a:gd name="connsiteY92" fmla="*/ 217170 h 685800"/>
              <a:gd name="connsiteX93" fmla="*/ 172403 w 800151"/>
              <a:gd name="connsiteY93" fmla="*/ 222885 h 685800"/>
              <a:gd name="connsiteX94" fmla="*/ 267653 w 800151"/>
              <a:gd name="connsiteY94" fmla="*/ 57150 h 685800"/>
              <a:gd name="connsiteX95" fmla="*/ 477203 w 800151"/>
              <a:gd name="connsiteY95" fmla="*/ 114300 h 685800"/>
              <a:gd name="connsiteX96" fmla="*/ 267653 w 800151"/>
              <a:gd name="connsiteY96" fmla="*/ 171450 h 685800"/>
              <a:gd name="connsiteX97" fmla="*/ 58103 w 800151"/>
              <a:gd name="connsiteY97" fmla="*/ 114300 h 685800"/>
              <a:gd name="connsiteX98" fmla="*/ 267653 w 800151"/>
              <a:gd name="connsiteY98" fmla="*/ 57150 h 685800"/>
              <a:gd name="connsiteX99" fmla="*/ 324803 w 800151"/>
              <a:gd name="connsiteY99" fmla="*/ 508635 h 685800"/>
              <a:gd name="connsiteX100" fmla="*/ 286703 w 800151"/>
              <a:gd name="connsiteY100" fmla="*/ 476250 h 685800"/>
              <a:gd name="connsiteX101" fmla="*/ 286703 w 800151"/>
              <a:gd name="connsiteY101" fmla="*/ 459105 h 685800"/>
              <a:gd name="connsiteX102" fmla="*/ 324803 w 800151"/>
              <a:gd name="connsiteY102" fmla="*/ 473393 h 685800"/>
              <a:gd name="connsiteX103" fmla="*/ 324803 w 800151"/>
              <a:gd name="connsiteY103" fmla="*/ 508635 h 685800"/>
              <a:gd name="connsiteX104" fmla="*/ 439103 w 800151"/>
              <a:gd name="connsiteY104" fmla="*/ 241935 h 685800"/>
              <a:gd name="connsiteX105" fmla="*/ 439103 w 800151"/>
              <a:gd name="connsiteY105" fmla="*/ 207645 h 685800"/>
              <a:gd name="connsiteX106" fmla="*/ 477203 w 800151"/>
              <a:gd name="connsiteY106" fmla="*/ 192405 h 685800"/>
              <a:gd name="connsiteX107" fmla="*/ 477203 w 800151"/>
              <a:gd name="connsiteY107" fmla="*/ 209550 h 685800"/>
              <a:gd name="connsiteX108" fmla="*/ 439103 w 800151"/>
              <a:gd name="connsiteY108" fmla="*/ 241935 h 685800"/>
              <a:gd name="connsiteX109" fmla="*/ 362903 w 800151"/>
              <a:gd name="connsiteY109" fmla="*/ 260033 h 685800"/>
              <a:gd name="connsiteX110" fmla="*/ 362903 w 800151"/>
              <a:gd name="connsiteY110" fmla="*/ 222885 h 685800"/>
              <a:gd name="connsiteX111" fmla="*/ 401003 w 800151"/>
              <a:gd name="connsiteY111" fmla="*/ 217170 h 685800"/>
              <a:gd name="connsiteX112" fmla="*/ 401003 w 800151"/>
              <a:gd name="connsiteY112" fmla="*/ 253365 h 685800"/>
              <a:gd name="connsiteX113" fmla="*/ 362903 w 800151"/>
              <a:gd name="connsiteY113" fmla="*/ 260033 h 685800"/>
              <a:gd name="connsiteX114" fmla="*/ 286703 w 800151"/>
              <a:gd name="connsiteY114" fmla="*/ 266700 h 685800"/>
              <a:gd name="connsiteX115" fmla="*/ 286703 w 800151"/>
              <a:gd name="connsiteY115" fmla="*/ 228600 h 685800"/>
              <a:gd name="connsiteX116" fmla="*/ 324803 w 800151"/>
              <a:gd name="connsiteY116" fmla="*/ 226695 h 685800"/>
              <a:gd name="connsiteX117" fmla="*/ 324803 w 800151"/>
              <a:gd name="connsiteY117" fmla="*/ 264795 h 685800"/>
              <a:gd name="connsiteX118" fmla="*/ 286703 w 800151"/>
              <a:gd name="connsiteY118" fmla="*/ 266700 h 685800"/>
              <a:gd name="connsiteX119" fmla="*/ 210503 w 800151"/>
              <a:gd name="connsiteY119" fmla="*/ 264795 h 685800"/>
              <a:gd name="connsiteX120" fmla="*/ 210503 w 800151"/>
              <a:gd name="connsiteY120" fmla="*/ 226695 h 685800"/>
              <a:gd name="connsiteX121" fmla="*/ 248603 w 800151"/>
              <a:gd name="connsiteY121" fmla="*/ 228600 h 685800"/>
              <a:gd name="connsiteX122" fmla="*/ 248603 w 800151"/>
              <a:gd name="connsiteY122" fmla="*/ 266700 h 685800"/>
              <a:gd name="connsiteX123" fmla="*/ 210503 w 800151"/>
              <a:gd name="connsiteY123" fmla="*/ 264795 h 685800"/>
              <a:gd name="connsiteX124" fmla="*/ 705803 w 800151"/>
              <a:gd name="connsiteY124" fmla="*/ 381000 h 685800"/>
              <a:gd name="connsiteX125" fmla="*/ 496253 w 800151"/>
              <a:gd name="connsiteY125" fmla="*/ 438150 h 685800"/>
              <a:gd name="connsiteX126" fmla="*/ 286703 w 800151"/>
              <a:gd name="connsiteY126" fmla="*/ 381000 h 685800"/>
              <a:gd name="connsiteX127" fmla="*/ 496253 w 800151"/>
              <a:gd name="connsiteY127" fmla="*/ 323850 h 685800"/>
              <a:gd name="connsiteX128" fmla="*/ 705803 w 800151"/>
              <a:gd name="connsiteY128" fmla="*/ 381000 h 685800"/>
              <a:gd name="connsiteX129" fmla="*/ 762953 w 800151"/>
              <a:gd name="connsiteY129" fmla="*/ 409575 h 685800"/>
              <a:gd name="connsiteX130" fmla="*/ 762953 w 800151"/>
              <a:gd name="connsiteY130" fmla="*/ 381000 h 685800"/>
              <a:gd name="connsiteX131" fmla="*/ 659130 w 800151"/>
              <a:gd name="connsiteY131" fmla="*/ 285750 h 685800"/>
              <a:gd name="connsiteX132" fmla="*/ 570548 w 800151"/>
              <a:gd name="connsiteY132" fmla="*/ 270510 h 685800"/>
              <a:gd name="connsiteX133" fmla="*/ 571500 w 800151"/>
              <a:gd name="connsiteY133" fmla="*/ 257175 h 685800"/>
              <a:gd name="connsiteX134" fmla="*/ 533400 w 800151"/>
              <a:gd name="connsiteY134" fmla="*/ 190500 h 685800"/>
              <a:gd name="connsiteX135" fmla="*/ 533400 w 800151"/>
              <a:gd name="connsiteY135" fmla="*/ 114300 h 685800"/>
              <a:gd name="connsiteX136" fmla="*/ 429578 w 800151"/>
              <a:gd name="connsiteY136" fmla="*/ 19050 h 685800"/>
              <a:gd name="connsiteX137" fmla="*/ 266700 w 800151"/>
              <a:gd name="connsiteY137" fmla="*/ 0 h 685800"/>
              <a:gd name="connsiteX138" fmla="*/ 0 w 800151"/>
              <a:gd name="connsiteY138" fmla="*/ 114300 h 685800"/>
              <a:gd name="connsiteX139" fmla="*/ 0 w 800151"/>
              <a:gd name="connsiteY139" fmla="*/ 209550 h 685800"/>
              <a:gd name="connsiteX140" fmla="*/ 38100 w 800151"/>
              <a:gd name="connsiteY140" fmla="*/ 276225 h 685800"/>
              <a:gd name="connsiteX141" fmla="*/ 38100 w 800151"/>
              <a:gd name="connsiteY141" fmla="*/ 294323 h 685800"/>
              <a:gd name="connsiteX142" fmla="*/ 0 w 800151"/>
              <a:gd name="connsiteY142" fmla="*/ 361950 h 685800"/>
              <a:gd name="connsiteX143" fmla="*/ 0 w 800151"/>
              <a:gd name="connsiteY143" fmla="*/ 457200 h 685800"/>
              <a:gd name="connsiteX144" fmla="*/ 103822 w 800151"/>
              <a:gd name="connsiteY144" fmla="*/ 552450 h 685800"/>
              <a:gd name="connsiteX145" fmla="*/ 266700 w 800151"/>
              <a:gd name="connsiteY145" fmla="*/ 571500 h 685800"/>
              <a:gd name="connsiteX146" fmla="*/ 370523 w 800151"/>
              <a:gd name="connsiteY146" fmla="*/ 666750 h 685800"/>
              <a:gd name="connsiteX147" fmla="*/ 533400 w 800151"/>
              <a:gd name="connsiteY147" fmla="*/ 685800 h 685800"/>
              <a:gd name="connsiteX148" fmla="*/ 800100 w 800151"/>
              <a:gd name="connsiteY148" fmla="*/ 571500 h 685800"/>
              <a:gd name="connsiteX149" fmla="*/ 800100 w 800151"/>
              <a:gd name="connsiteY149" fmla="*/ 476250 h 685800"/>
              <a:gd name="connsiteX150" fmla="*/ 762953 w 800151"/>
              <a:gd name="connsiteY150" fmla="*/ 409575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800151" h="685800">
                <a:moveTo>
                  <a:pt x="743903" y="571500"/>
                </a:moveTo>
                <a:cubicBezTo>
                  <a:pt x="743903" y="583883"/>
                  <a:pt x="729615" y="595313"/>
                  <a:pt x="705803" y="603885"/>
                </a:cubicBezTo>
                <a:lnTo>
                  <a:pt x="705803" y="569595"/>
                </a:lnTo>
                <a:cubicBezTo>
                  <a:pt x="719138" y="565785"/>
                  <a:pt x="732473" y="560070"/>
                  <a:pt x="743903" y="554355"/>
                </a:cubicBezTo>
                <a:lnTo>
                  <a:pt x="743903" y="571500"/>
                </a:lnTo>
                <a:close/>
                <a:moveTo>
                  <a:pt x="667703" y="508635"/>
                </a:moveTo>
                <a:lnTo>
                  <a:pt x="667703" y="474345"/>
                </a:lnTo>
                <a:cubicBezTo>
                  <a:pt x="681038" y="470535"/>
                  <a:pt x="694373" y="464820"/>
                  <a:pt x="705803" y="459105"/>
                </a:cubicBezTo>
                <a:lnTo>
                  <a:pt x="705803" y="476250"/>
                </a:lnTo>
                <a:cubicBezTo>
                  <a:pt x="705803" y="488633"/>
                  <a:pt x="691515" y="500063"/>
                  <a:pt x="667703" y="508635"/>
                </a:cubicBezTo>
                <a:close/>
                <a:moveTo>
                  <a:pt x="667703" y="615315"/>
                </a:moveTo>
                <a:cubicBezTo>
                  <a:pt x="656273" y="618173"/>
                  <a:pt x="642938" y="620078"/>
                  <a:pt x="629603" y="621983"/>
                </a:cubicBezTo>
                <a:lnTo>
                  <a:pt x="629603" y="584835"/>
                </a:lnTo>
                <a:cubicBezTo>
                  <a:pt x="641985" y="582930"/>
                  <a:pt x="655320" y="581025"/>
                  <a:pt x="667703" y="579120"/>
                </a:cubicBezTo>
                <a:lnTo>
                  <a:pt x="667703" y="615315"/>
                </a:lnTo>
                <a:close/>
                <a:moveTo>
                  <a:pt x="591503" y="489585"/>
                </a:moveTo>
                <a:cubicBezTo>
                  <a:pt x="603885" y="487680"/>
                  <a:pt x="617220" y="485775"/>
                  <a:pt x="629603" y="483870"/>
                </a:cubicBezTo>
                <a:lnTo>
                  <a:pt x="629603" y="520065"/>
                </a:lnTo>
                <a:cubicBezTo>
                  <a:pt x="618173" y="522923"/>
                  <a:pt x="604838" y="524828"/>
                  <a:pt x="591503" y="526733"/>
                </a:cubicBezTo>
                <a:lnTo>
                  <a:pt x="591503" y="489585"/>
                </a:lnTo>
                <a:close/>
                <a:moveTo>
                  <a:pt x="591503" y="626745"/>
                </a:moveTo>
                <a:cubicBezTo>
                  <a:pt x="579120" y="627698"/>
                  <a:pt x="566738" y="628650"/>
                  <a:pt x="553403" y="628650"/>
                </a:cubicBezTo>
                <a:lnTo>
                  <a:pt x="553403" y="590550"/>
                </a:lnTo>
                <a:cubicBezTo>
                  <a:pt x="564833" y="590550"/>
                  <a:pt x="578168" y="589598"/>
                  <a:pt x="591503" y="588645"/>
                </a:cubicBezTo>
                <a:lnTo>
                  <a:pt x="591503" y="626745"/>
                </a:lnTo>
                <a:close/>
                <a:moveTo>
                  <a:pt x="515303" y="533400"/>
                </a:moveTo>
                <a:lnTo>
                  <a:pt x="515303" y="495300"/>
                </a:lnTo>
                <a:cubicBezTo>
                  <a:pt x="526733" y="495300"/>
                  <a:pt x="540068" y="494348"/>
                  <a:pt x="553403" y="493395"/>
                </a:cubicBezTo>
                <a:lnTo>
                  <a:pt x="553403" y="531495"/>
                </a:lnTo>
                <a:cubicBezTo>
                  <a:pt x="541020" y="532448"/>
                  <a:pt x="528638" y="532448"/>
                  <a:pt x="515303" y="533400"/>
                </a:cubicBezTo>
                <a:close/>
                <a:moveTo>
                  <a:pt x="515303" y="628650"/>
                </a:moveTo>
                <a:cubicBezTo>
                  <a:pt x="501968" y="628650"/>
                  <a:pt x="489585" y="627698"/>
                  <a:pt x="477203" y="626745"/>
                </a:cubicBezTo>
                <a:lnTo>
                  <a:pt x="477203" y="590550"/>
                </a:lnTo>
                <a:cubicBezTo>
                  <a:pt x="483870" y="590550"/>
                  <a:pt x="489585" y="590550"/>
                  <a:pt x="496253" y="590550"/>
                </a:cubicBezTo>
                <a:cubicBezTo>
                  <a:pt x="501968" y="590550"/>
                  <a:pt x="508635" y="590550"/>
                  <a:pt x="515303" y="590550"/>
                </a:cubicBezTo>
                <a:lnTo>
                  <a:pt x="515303" y="628650"/>
                </a:lnTo>
                <a:close/>
                <a:moveTo>
                  <a:pt x="439103" y="493395"/>
                </a:moveTo>
                <a:cubicBezTo>
                  <a:pt x="451485" y="494348"/>
                  <a:pt x="463868" y="495300"/>
                  <a:pt x="477203" y="495300"/>
                </a:cubicBezTo>
                <a:lnTo>
                  <a:pt x="477203" y="533400"/>
                </a:lnTo>
                <a:cubicBezTo>
                  <a:pt x="463868" y="533400"/>
                  <a:pt x="451485" y="532448"/>
                  <a:pt x="439103" y="531495"/>
                </a:cubicBezTo>
                <a:lnTo>
                  <a:pt x="439103" y="493395"/>
                </a:lnTo>
                <a:close/>
                <a:moveTo>
                  <a:pt x="439103" y="621983"/>
                </a:moveTo>
                <a:cubicBezTo>
                  <a:pt x="425768" y="620078"/>
                  <a:pt x="412433" y="618173"/>
                  <a:pt x="401003" y="615315"/>
                </a:cubicBezTo>
                <a:lnTo>
                  <a:pt x="401003" y="584835"/>
                </a:lnTo>
                <a:cubicBezTo>
                  <a:pt x="413385" y="586740"/>
                  <a:pt x="425768" y="587693"/>
                  <a:pt x="439103" y="588645"/>
                </a:cubicBezTo>
                <a:lnTo>
                  <a:pt x="439103" y="621983"/>
                </a:lnTo>
                <a:close/>
                <a:moveTo>
                  <a:pt x="362903" y="520065"/>
                </a:moveTo>
                <a:lnTo>
                  <a:pt x="362903" y="482918"/>
                </a:lnTo>
                <a:cubicBezTo>
                  <a:pt x="375285" y="484823"/>
                  <a:pt x="387668" y="487680"/>
                  <a:pt x="401003" y="488633"/>
                </a:cubicBezTo>
                <a:lnTo>
                  <a:pt x="401003" y="526733"/>
                </a:lnTo>
                <a:cubicBezTo>
                  <a:pt x="387668" y="524828"/>
                  <a:pt x="374333" y="522923"/>
                  <a:pt x="362903" y="520065"/>
                </a:cubicBezTo>
                <a:close/>
                <a:moveTo>
                  <a:pt x="362903" y="603885"/>
                </a:moveTo>
                <a:cubicBezTo>
                  <a:pt x="339090" y="594360"/>
                  <a:pt x="324803" y="582930"/>
                  <a:pt x="324803" y="571500"/>
                </a:cubicBezTo>
                <a:lnTo>
                  <a:pt x="324803" y="569595"/>
                </a:lnTo>
                <a:cubicBezTo>
                  <a:pt x="324803" y="569595"/>
                  <a:pt x="324803" y="569595"/>
                  <a:pt x="325755" y="569595"/>
                </a:cubicBezTo>
                <a:cubicBezTo>
                  <a:pt x="328613" y="570548"/>
                  <a:pt x="330518" y="571500"/>
                  <a:pt x="333375" y="571500"/>
                </a:cubicBezTo>
                <a:cubicBezTo>
                  <a:pt x="342900" y="574358"/>
                  <a:pt x="352425" y="576263"/>
                  <a:pt x="362903" y="578168"/>
                </a:cubicBezTo>
                <a:lnTo>
                  <a:pt x="362903" y="603885"/>
                </a:lnTo>
                <a:close/>
                <a:moveTo>
                  <a:pt x="210503" y="474345"/>
                </a:moveTo>
                <a:cubicBezTo>
                  <a:pt x="217170" y="474345"/>
                  <a:pt x="222885" y="475298"/>
                  <a:pt x="229553" y="475298"/>
                </a:cubicBezTo>
                <a:lnTo>
                  <a:pt x="229553" y="476250"/>
                </a:lnTo>
                <a:cubicBezTo>
                  <a:pt x="229553" y="489585"/>
                  <a:pt x="232410" y="502920"/>
                  <a:pt x="239078" y="513398"/>
                </a:cubicBezTo>
                <a:cubicBezTo>
                  <a:pt x="229553" y="513398"/>
                  <a:pt x="220028" y="512445"/>
                  <a:pt x="210503" y="511492"/>
                </a:cubicBezTo>
                <a:lnTo>
                  <a:pt x="210503" y="474345"/>
                </a:lnTo>
                <a:close/>
                <a:moveTo>
                  <a:pt x="172403" y="360045"/>
                </a:moveTo>
                <a:cubicBezTo>
                  <a:pt x="184785" y="361950"/>
                  <a:pt x="197168" y="364808"/>
                  <a:pt x="210503" y="365760"/>
                </a:cubicBezTo>
                <a:lnTo>
                  <a:pt x="210503" y="403860"/>
                </a:lnTo>
                <a:cubicBezTo>
                  <a:pt x="197168" y="401955"/>
                  <a:pt x="183833" y="400050"/>
                  <a:pt x="172403" y="397193"/>
                </a:cubicBezTo>
                <a:lnTo>
                  <a:pt x="172403" y="360045"/>
                </a:lnTo>
                <a:close/>
                <a:moveTo>
                  <a:pt x="172403" y="507683"/>
                </a:moveTo>
                <a:cubicBezTo>
                  <a:pt x="159068" y="505778"/>
                  <a:pt x="145733" y="503873"/>
                  <a:pt x="134303" y="501015"/>
                </a:cubicBezTo>
                <a:lnTo>
                  <a:pt x="134303" y="463868"/>
                </a:lnTo>
                <a:cubicBezTo>
                  <a:pt x="146685" y="465773"/>
                  <a:pt x="159068" y="468630"/>
                  <a:pt x="172403" y="469583"/>
                </a:cubicBezTo>
                <a:lnTo>
                  <a:pt x="172403" y="507683"/>
                </a:lnTo>
                <a:close/>
                <a:moveTo>
                  <a:pt x="96203" y="352425"/>
                </a:moveTo>
                <a:lnTo>
                  <a:pt x="96203" y="335280"/>
                </a:lnTo>
                <a:cubicBezTo>
                  <a:pt x="107633" y="340995"/>
                  <a:pt x="120015" y="345758"/>
                  <a:pt x="134303" y="349568"/>
                </a:cubicBezTo>
                <a:lnTo>
                  <a:pt x="134303" y="384810"/>
                </a:lnTo>
                <a:cubicBezTo>
                  <a:pt x="110490" y="376238"/>
                  <a:pt x="96203" y="364808"/>
                  <a:pt x="96203" y="352425"/>
                </a:cubicBezTo>
                <a:close/>
                <a:moveTo>
                  <a:pt x="96203" y="489585"/>
                </a:moveTo>
                <a:cubicBezTo>
                  <a:pt x="72390" y="480060"/>
                  <a:pt x="58103" y="468630"/>
                  <a:pt x="58103" y="457200"/>
                </a:cubicBezTo>
                <a:lnTo>
                  <a:pt x="58103" y="440055"/>
                </a:lnTo>
                <a:cubicBezTo>
                  <a:pt x="69533" y="445770"/>
                  <a:pt x="81915" y="450533"/>
                  <a:pt x="96203" y="454343"/>
                </a:cubicBezTo>
                <a:lnTo>
                  <a:pt x="96203" y="489585"/>
                </a:lnTo>
                <a:close/>
                <a:moveTo>
                  <a:pt x="58103" y="192405"/>
                </a:moveTo>
                <a:cubicBezTo>
                  <a:pt x="69533" y="198120"/>
                  <a:pt x="81915" y="202883"/>
                  <a:pt x="96203" y="206693"/>
                </a:cubicBezTo>
                <a:lnTo>
                  <a:pt x="96203" y="241935"/>
                </a:lnTo>
                <a:cubicBezTo>
                  <a:pt x="72390" y="232410"/>
                  <a:pt x="58103" y="220980"/>
                  <a:pt x="58103" y="209550"/>
                </a:cubicBezTo>
                <a:lnTo>
                  <a:pt x="58103" y="192405"/>
                </a:lnTo>
                <a:close/>
                <a:moveTo>
                  <a:pt x="172403" y="222885"/>
                </a:moveTo>
                <a:lnTo>
                  <a:pt x="172403" y="260985"/>
                </a:lnTo>
                <a:cubicBezTo>
                  <a:pt x="159068" y="259080"/>
                  <a:pt x="145733" y="257175"/>
                  <a:pt x="134303" y="254318"/>
                </a:cubicBezTo>
                <a:lnTo>
                  <a:pt x="134303" y="217170"/>
                </a:lnTo>
                <a:cubicBezTo>
                  <a:pt x="146685" y="219075"/>
                  <a:pt x="159068" y="220980"/>
                  <a:pt x="172403" y="222885"/>
                </a:cubicBezTo>
                <a:close/>
                <a:moveTo>
                  <a:pt x="267653" y="57150"/>
                </a:moveTo>
                <a:cubicBezTo>
                  <a:pt x="383858" y="57150"/>
                  <a:pt x="477203" y="82868"/>
                  <a:pt x="477203" y="114300"/>
                </a:cubicBezTo>
                <a:cubicBezTo>
                  <a:pt x="477203" y="145733"/>
                  <a:pt x="383858" y="171450"/>
                  <a:pt x="267653" y="171450"/>
                </a:cubicBezTo>
                <a:cubicBezTo>
                  <a:pt x="151447" y="171450"/>
                  <a:pt x="58103" y="145733"/>
                  <a:pt x="58103" y="114300"/>
                </a:cubicBezTo>
                <a:cubicBezTo>
                  <a:pt x="58103" y="82868"/>
                  <a:pt x="151447" y="57150"/>
                  <a:pt x="267653" y="57150"/>
                </a:cubicBezTo>
                <a:close/>
                <a:moveTo>
                  <a:pt x="324803" y="508635"/>
                </a:moveTo>
                <a:cubicBezTo>
                  <a:pt x="300990" y="499110"/>
                  <a:pt x="286703" y="487680"/>
                  <a:pt x="286703" y="476250"/>
                </a:cubicBezTo>
                <a:lnTo>
                  <a:pt x="286703" y="459105"/>
                </a:lnTo>
                <a:cubicBezTo>
                  <a:pt x="298133" y="464820"/>
                  <a:pt x="310515" y="469583"/>
                  <a:pt x="324803" y="473393"/>
                </a:cubicBezTo>
                <a:lnTo>
                  <a:pt x="324803" y="508635"/>
                </a:lnTo>
                <a:close/>
                <a:moveTo>
                  <a:pt x="439103" y="241935"/>
                </a:moveTo>
                <a:lnTo>
                  <a:pt x="439103" y="207645"/>
                </a:lnTo>
                <a:cubicBezTo>
                  <a:pt x="452438" y="203835"/>
                  <a:pt x="465773" y="198120"/>
                  <a:pt x="477203" y="192405"/>
                </a:cubicBezTo>
                <a:lnTo>
                  <a:pt x="477203" y="209550"/>
                </a:lnTo>
                <a:cubicBezTo>
                  <a:pt x="477203" y="221933"/>
                  <a:pt x="462915" y="233363"/>
                  <a:pt x="439103" y="241935"/>
                </a:cubicBezTo>
                <a:close/>
                <a:moveTo>
                  <a:pt x="362903" y="260033"/>
                </a:moveTo>
                <a:lnTo>
                  <a:pt x="362903" y="222885"/>
                </a:lnTo>
                <a:cubicBezTo>
                  <a:pt x="375285" y="220980"/>
                  <a:pt x="388620" y="219075"/>
                  <a:pt x="401003" y="217170"/>
                </a:cubicBezTo>
                <a:lnTo>
                  <a:pt x="401003" y="253365"/>
                </a:lnTo>
                <a:cubicBezTo>
                  <a:pt x="389573" y="256223"/>
                  <a:pt x="376238" y="258127"/>
                  <a:pt x="362903" y="260033"/>
                </a:cubicBezTo>
                <a:close/>
                <a:moveTo>
                  <a:pt x="286703" y="266700"/>
                </a:moveTo>
                <a:lnTo>
                  <a:pt x="286703" y="228600"/>
                </a:lnTo>
                <a:cubicBezTo>
                  <a:pt x="298133" y="228600"/>
                  <a:pt x="311468" y="227648"/>
                  <a:pt x="324803" y="226695"/>
                </a:cubicBezTo>
                <a:lnTo>
                  <a:pt x="324803" y="264795"/>
                </a:lnTo>
                <a:cubicBezTo>
                  <a:pt x="312420" y="265748"/>
                  <a:pt x="300038" y="265748"/>
                  <a:pt x="286703" y="266700"/>
                </a:cubicBezTo>
                <a:close/>
                <a:moveTo>
                  <a:pt x="210503" y="264795"/>
                </a:moveTo>
                <a:lnTo>
                  <a:pt x="210503" y="226695"/>
                </a:lnTo>
                <a:cubicBezTo>
                  <a:pt x="222885" y="227648"/>
                  <a:pt x="235267" y="228600"/>
                  <a:pt x="248603" y="228600"/>
                </a:cubicBezTo>
                <a:lnTo>
                  <a:pt x="248603" y="266700"/>
                </a:lnTo>
                <a:cubicBezTo>
                  <a:pt x="235267" y="265748"/>
                  <a:pt x="222885" y="265748"/>
                  <a:pt x="210503" y="264795"/>
                </a:cubicBezTo>
                <a:close/>
                <a:moveTo>
                  <a:pt x="705803" y="381000"/>
                </a:moveTo>
                <a:cubicBezTo>
                  <a:pt x="705803" y="412433"/>
                  <a:pt x="612458" y="438150"/>
                  <a:pt x="496253" y="438150"/>
                </a:cubicBezTo>
                <a:cubicBezTo>
                  <a:pt x="380048" y="438150"/>
                  <a:pt x="286703" y="412433"/>
                  <a:pt x="286703" y="381000"/>
                </a:cubicBezTo>
                <a:cubicBezTo>
                  <a:pt x="286703" y="349568"/>
                  <a:pt x="380048" y="323850"/>
                  <a:pt x="496253" y="323850"/>
                </a:cubicBezTo>
                <a:cubicBezTo>
                  <a:pt x="612458" y="323850"/>
                  <a:pt x="705803" y="349568"/>
                  <a:pt x="705803" y="381000"/>
                </a:cubicBezTo>
                <a:close/>
                <a:moveTo>
                  <a:pt x="762953" y="409575"/>
                </a:moveTo>
                <a:lnTo>
                  <a:pt x="762953" y="381000"/>
                </a:lnTo>
                <a:cubicBezTo>
                  <a:pt x="762953" y="336233"/>
                  <a:pt x="727710" y="303848"/>
                  <a:pt x="659130" y="285750"/>
                </a:cubicBezTo>
                <a:cubicBezTo>
                  <a:pt x="633413" y="279083"/>
                  <a:pt x="603885" y="273368"/>
                  <a:pt x="570548" y="270510"/>
                </a:cubicBezTo>
                <a:cubicBezTo>
                  <a:pt x="571500" y="266700"/>
                  <a:pt x="571500" y="261938"/>
                  <a:pt x="571500" y="257175"/>
                </a:cubicBezTo>
                <a:cubicBezTo>
                  <a:pt x="571500" y="230505"/>
                  <a:pt x="559118" y="207645"/>
                  <a:pt x="533400" y="190500"/>
                </a:cubicBezTo>
                <a:lnTo>
                  <a:pt x="533400" y="114300"/>
                </a:lnTo>
                <a:cubicBezTo>
                  <a:pt x="533400" y="69532"/>
                  <a:pt x="498158" y="37147"/>
                  <a:pt x="429578" y="19050"/>
                </a:cubicBezTo>
                <a:cubicBezTo>
                  <a:pt x="384810" y="6667"/>
                  <a:pt x="327660" y="0"/>
                  <a:pt x="266700" y="0"/>
                </a:cubicBezTo>
                <a:cubicBezTo>
                  <a:pt x="186690" y="0"/>
                  <a:pt x="0" y="11430"/>
                  <a:pt x="0" y="114300"/>
                </a:cubicBezTo>
                <a:lnTo>
                  <a:pt x="0" y="209550"/>
                </a:lnTo>
                <a:cubicBezTo>
                  <a:pt x="0" y="236220"/>
                  <a:pt x="12382" y="259080"/>
                  <a:pt x="38100" y="276225"/>
                </a:cubicBezTo>
                <a:lnTo>
                  <a:pt x="38100" y="294323"/>
                </a:lnTo>
                <a:cubicBezTo>
                  <a:pt x="15240" y="310515"/>
                  <a:pt x="0" y="332423"/>
                  <a:pt x="0" y="361950"/>
                </a:cubicBezTo>
                <a:lnTo>
                  <a:pt x="0" y="457200"/>
                </a:lnTo>
                <a:cubicBezTo>
                  <a:pt x="0" y="501967"/>
                  <a:pt x="35243" y="534353"/>
                  <a:pt x="103822" y="552450"/>
                </a:cubicBezTo>
                <a:cubicBezTo>
                  <a:pt x="148590" y="564833"/>
                  <a:pt x="205740" y="571500"/>
                  <a:pt x="266700" y="571500"/>
                </a:cubicBezTo>
                <a:cubicBezTo>
                  <a:pt x="266700" y="616268"/>
                  <a:pt x="301943" y="648653"/>
                  <a:pt x="370523" y="666750"/>
                </a:cubicBezTo>
                <a:cubicBezTo>
                  <a:pt x="415290" y="679133"/>
                  <a:pt x="472440" y="685800"/>
                  <a:pt x="533400" y="685800"/>
                </a:cubicBezTo>
                <a:cubicBezTo>
                  <a:pt x="613410" y="685800"/>
                  <a:pt x="800100" y="674370"/>
                  <a:pt x="800100" y="571500"/>
                </a:cubicBezTo>
                <a:lnTo>
                  <a:pt x="800100" y="476250"/>
                </a:lnTo>
                <a:cubicBezTo>
                  <a:pt x="801053" y="449580"/>
                  <a:pt x="788670" y="426720"/>
                  <a:pt x="762953" y="409575"/>
                </a:cubicBezTo>
                <a:close/>
              </a:path>
            </a:pathLst>
          </a:custGeom>
          <a:solidFill>
            <a:schemeClr val="lt1"/>
          </a:solidFill>
          <a:ln w="127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131786" tIns="65892" rIns="131786" bIns="6589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 sz="2795"/>
          </a:p>
        </p:txBody>
      </p:sp>
    </p:spTree>
    <p:extLst>
      <p:ext uri="{BB962C8B-B14F-4D97-AF65-F5344CB8AC3E}">
        <p14:creationId xmlns:p14="http://schemas.microsoft.com/office/powerpoint/2010/main" val="123943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6A68B-CCA0-6F9E-CA8C-58609C24B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5094" y="765830"/>
            <a:ext cx="14601681" cy="2098810"/>
          </a:xfrm>
        </p:spPr>
        <p:txBody>
          <a:bodyPr>
            <a:normAutofit/>
          </a:bodyPr>
          <a:lstStyle/>
          <a:p>
            <a:r>
              <a:rPr lang="en-IN" sz="6918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Problem Statement</a:t>
            </a:r>
            <a:br>
              <a:rPr lang="en-IN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FDCA24-77A9-4144-A451-09A64E107FFD}"/>
              </a:ext>
            </a:extLst>
          </p:cNvPr>
          <p:cNvSpPr txBox="1"/>
          <p:nvPr/>
        </p:nvSpPr>
        <p:spPr>
          <a:xfrm>
            <a:off x="776313" y="3678658"/>
            <a:ext cx="16735376" cy="38789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035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 fully understand the efficiency of ticket resolution, the satisfaction levels of employees, and the performance of IT agents, the IT support ticket management system needs to be analyzed. </a:t>
            </a:r>
          </a:p>
          <a:p>
            <a:pPr algn="just"/>
            <a:r>
              <a:rPr lang="en-US" sz="4035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objective of the analysis is to evaluate the team’s overall effectiveness, identify high and low performers among IT agents, and identify areas for improvement in the ticket resolution process</a:t>
            </a:r>
            <a:endParaRPr lang="en-IN" sz="4035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5" name="Graphic 4" descr="Questions with solid fill">
            <a:extLst>
              <a:ext uri="{FF2B5EF4-FFF2-40B4-BE49-F238E27FC236}">
                <a16:creationId xmlns:a16="http://schemas.microsoft.com/office/drawing/2014/main" id="{9C33B65E-8FA0-AA5B-BB40-A5548A3EFA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51494" y="277734"/>
            <a:ext cx="2117766" cy="2117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341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0101248-D1E1-22B8-0CFD-CBE9B622802E}"/>
              </a:ext>
            </a:extLst>
          </p:cNvPr>
          <p:cNvSpPr txBox="1"/>
          <p:nvPr/>
        </p:nvSpPr>
        <p:spPr>
          <a:xfrm>
            <a:off x="7182888" y="1076953"/>
            <a:ext cx="771888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GOAL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7771B3-3B47-80F4-FCC8-5BB5A412D29F}"/>
              </a:ext>
            </a:extLst>
          </p:cNvPr>
          <p:cNvSpPr txBox="1"/>
          <p:nvPr/>
        </p:nvSpPr>
        <p:spPr>
          <a:xfrm>
            <a:off x="845841" y="4221656"/>
            <a:ext cx="16596318" cy="19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035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ultimate objective is to improve the quality of service and the team’s performance by making responsible staffing decisions, such as hiring, firing, and training.</a:t>
            </a:r>
            <a:endParaRPr lang="en-IN" sz="4035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201CAF6-EB9C-65F3-5BF5-49F922053B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98832" y="867092"/>
            <a:ext cx="1317857" cy="131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435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7AA71-B000-9D97-B065-A53D72B12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690" y="-462936"/>
            <a:ext cx="14601681" cy="2098810"/>
          </a:xfrm>
        </p:spPr>
        <p:txBody>
          <a:bodyPr>
            <a:normAutofit/>
          </a:bodyPr>
          <a:lstStyle/>
          <a:p>
            <a:r>
              <a:rPr lang="en-IN" sz="6000" b="1" cap="non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 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01693A-7A6B-87FB-3B86-0110829455AF}"/>
              </a:ext>
            </a:extLst>
          </p:cNvPr>
          <p:cNvSpPr txBox="1"/>
          <p:nvPr/>
        </p:nvSpPr>
        <p:spPr>
          <a:xfrm>
            <a:off x="430690" y="1635874"/>
            <a:ext cx="7946970" cy="724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58959" indent="-658959">
              <a:buFont typeface="Wingdings" panose="05000000000000000000" pitchFamily="2" charset="2"/>
              <a:buChar char="Ø"/>
            </a:pPr>
            <a:r>
              <a:rPr lang="en-US" sz="40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Total Ticket: </a:t>
            </a:r>
            <a:r>
              <a:rPr lang="en-US" sz="4035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97498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CE6278-00E0-51FE-ABF6-7EAA1BCA36D3}"/>
              </a:ext>
            </a:extLst>
          </p:cNvPr>
          <p:cNvSpPr txBox="1"/>
          <p:nvPr/>
        </p:nvSpPr>
        <p:spPr>
          <a:xfrm>
            <a:off x="430690" y="2342540"/>
            <a:ext cx="8439357" cy="78453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11849" indent="-411849">
              <a:buFont typeface="Wingdings" panose="05000000000000000000" pitchFamily="2" charset="2"/>
              <a:buChar char="Ø"/>
            </a:pPr>
            <a:r>
              <a:rPr lang="en-US" sz="40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Tickets Sheet: </a:t>
            </a:r>
            <a:r>
              <a:rPr lang="en-US" sz="4035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Contains information about IT support tickets. </a:t>
            </a:r>
          </a:p>
          <a:p>
            <a:pPr marL="1070808" lvl="1" indent="-411849">
              <a:buFont typeface="Arial" panose="020B0604020202020204" pitchFamily="34" charset="0"/>
              <a:buChar char="•"/>
            </a:pPr>
            <a:r>
              <a:rPr lang="en-US" sz="3459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ID: </a:t>
            </a:r>
            <a:r>
              <a:rPr lang="en-US" sz="3459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Unique identifier for the ticket.</a:t>
            </a:r>
          </a:p>
          <a:p>
            <a:pPr marL="1070808" lvl="1" indent="-411849">
              <a:buFont typeface="Arial" panose="020B0604020202020204" pitchFamily="34" charset="0"/>
              <a:buChar char="•"/>
            </a:pPr>
            <a:r>
              <a:rPr lang="en-US" sz="3459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Ticket Fecha</a:t>
            </a:r>
            <a:r>
              <a:rPr lang="en-US" sz="3459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 Date of the ticket.</a:t>
            </a:r>
          </a:p>
          <a:p>
            <a:pPr marL="1070808" lvl="1" indent="-411849">
              <a:buFont typeface="Arial" panose="020B0604020202020204" pitchFamily="34" charset="0"/>
              <a:buChar char="•"/>
            </a:pPr>
            <a:r>
              <a:rPr lang="en-US" sz="3459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Employee ID: </a:t>
            </a:r>
            <a:r>
              <a:rPr lang="en-US" sz="3459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 of the employee who raised the ticket.</a:t>
            </a:r>
          </a:p>
          <a:p>
            <a:pPr marL="1070808" lvl="1" indent="-411849">
              <a:buFont typeface="Arial" panose="020B0604020202020204" pitchFamily="34" charset="0"/>
              <a:buChar char="•"/>
            </a:pPr>
            <a:r>
              <a:rPr lang="en-US" sz="3459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Agent ID: </a:t>
            </a:r>
            <a:r>
              <a:rPr lang="en-US" sz="3459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 of the agent assigned to the ticket.</a:t>
            </a:r>
          </a:p>
          <a:p>
            <a:pPr marL="1070808" lvl="1" indent="-411849">
              <a:buFont typeface="Arial" panose="020B0604020202020204" pitchFamily="34" charset="0"/>
              <a:buChar char="•"/>
            </a:pPr>
            <a:r>
              <a:rPr lang="en-US" sz="3459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Request Category: </a:t>
            </a:r>
            <a:r>
              <a:rPr lang="en-US" sz="3459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Category of the request (e.g., Login Access, System, Software).</a:t>
            </a:r>
          </a:p>
          <a:p>
            <a:pPr marL="1070808" lvl="1" indent="-411849">
              <a:buFont typeface="Arial" panose="020B0604020202020204" pitchFamily="34" charset="0"/>
              <a:buChar char="•"/>
            </a:pPr>
            <a:r>
              <a:rPr lang="en-US" sz="3459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Issue Type: </a:t>
            </a:r>
            <a:r>
              <a:rPr lang="en-US" sz="3459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Type of issue (e.g., IT Error, IT Request).</a:t>
            </a:r>
          </a:p>
          <a:p>
            <a:pPr marL="1070808" lvl="1" indent="-411849">
              <a:buFont typeface="Arial" panose="020B0604020202020204" pitchFamily="34" charset="0"/>
              <a:buChar char="•"/>
            </a:pPr>
            <a:r>
              <a:rPr lang="en-US" sz="3459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Severity: </a:t>
            </a:r>
            <a:r>
              <a:rPr lang="en-US" sz="3459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Severity of the issue..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1E75CA-8F17-4949-CEBE-943EFC04D279}"/>
              </a:ext>
            </a:extLst>
          </p:cNvPr>
          <p:cNvSpPr txBox="1"/>
          <p:nvPr/>
        </p:nvSpPr>
        <p:spPr>
          <a:xfrm>
            <a:off x="9417955" y="2342539"/>
            <a:ext cx="8911228" cy="78453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70808" lvl="1" indent="-411849">
              <a:buFont typeface="Arial" panose="020B0604020202020204" pitchFamily="34" charset="0"/>
              <a:buChar char="•"/>
            </a:pPr>
            <a:r>
              <a:rPr lang="en-US" sz="3459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Priority: </a:t>
            </a:r>
            <a:r>
              <a:rPr lang="en-US" sz="3459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Priority level of the issue</a:t>
            </a:r>
            <a:endParaRPr lang="en-US" sz="3459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1070808" lvl="1" indent="-411849">
              <a:buFont typeface="Arial" panose="020B0604020202020204" pitchFamily="34" charset="0"/>
              <a:buChar char="•"/>
            </a:pPr>
            <a:r>
              <a:rPr lang="en-US" sz="3459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Resolution Time (Days): </a:t>
            </a:r>
            <a:r>
              <a:rPr lang="en-US" sz="3459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Time taken to resolve the ticket.</a:t>
            </a:r>
          </a:p>
          <a:p>
            <a:pPr marL="1070808" lvl="1" indent="-411849">
              <a:buFont typeface="Arial" panose="020B0604020202020204" pitchFamily="34" charset="0"/>
              <a:buChar char="•"/>
            </a:pPr>
            <a:r>
              <a:rPr lang="en-US" sz="3459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Satisfaction Rate: </a:t>
            </a:r>
            <a:r>
              <a:rPr lang="en-US" sz="3459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Satisfaction rate provided by the employee (1-5 scale).</a:t>
            </a:r>
            <a:endParaRPr lang="en-US" sz="4035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411849" indent="-411849">
              <a:buFont typeface="Wingdings" panose="05000000000000000000" pitchFamily="2" charset="2"/>
              <a:buChar char="Ø"/>
            </a:pPr>
            <a:r>
              <a:rPr lang="en-US" sz="40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IT Agents Sheet: </a:t>
            </a:r>
            <a:r>
              <a:rPr lang="en-US" sz="4035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Contains information about IT agents.</a:t>
            </a:r>
          </a:p>
          <a:p>
            <a:pPr marL="1070808" lvl="1" indent="-411849">
              <a:buFont typeface="Arial" panose="020B0604020202020204" pitchFamily="34" charset="0"/>
              <a:buChar char="•"/>
            </a:pPr>
            <a:r>
              <a:rPr lang="en-US" sz="3459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Agent ID: </a:t>
            </a:r>
            <a:r>
              <a:rPr lang="en-US" sz="3459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Unique identifier for the agent.</a:t>
            </a:r>
          </a:p>
          <a:p>
            <a:pPr marL="1070808" lvl="1" indent="-411849">
              <a:buFont typeface="Arial" panose="020B0604020202020204" pitchFamily="34" charset="0"/>
              <a:buChar char="•"/>
            </a:pPr>
            <a:r>
              <a:rPr lang="en-US" sz="3459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Full Name</a:t>
            </a:r>
            <a:r>
              <a:rPr lang="en-US" sz="3459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 Full name of the agent.</a:t>
            </a:r>
          </a:p>
          <a:p>
            <a:pPr marL="1070808" lvl="1" indent="-411849">
              <a:buFont typeface="Arial" panose="020B0604020202020204" pitchFamily="34" charset="0"/>
              <a:buChar char="•"/>
            </a:pPr>
            <a:r>
              <a:rPr lang="en-US" sz="3459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Email: </a:t>
            </a:r>
            <a:r>
              <a:rPr lang="en-US" sz="3459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Email address of the agent.</a:t>
            </a:r>
          </a:p>
          <a:p>
            <a:pPr marL="1070808" lvl="1" indent="-411849">
              <a:buFont typeface="Arial" panose="020B0604020202020204" pitchFamily="34" charset="0"/>
              <a:buChar char="•"/>
            </a:pPr>
            <a:r>
              <a:rPr lang="en-US" sz="3459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Year of Birth: </a:t>
            </a:r>
            <a:r>
              <a:rPr lang="en-US" sz="3459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Year the agent was born.</a:t>
            </a:r>
          </a:p>
          <a:p>
            <a:pPr marL="1070808" lvl="1" indent="-411849">
              <a:buFont typeface="Arial" panose="020B0604020202020204" pitchFamily="34" charset="0"/>
              <a:buChar char="•"/>
            </a:pPr>
            <a:r>
              <a:rPr lang="en-US" sz="3459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Month of Birth: </a:t>
            </a:r>
            <a:r>
              <a:rPr lang="en-US" sz="3459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Month the agent was born.</a:t>
            </a:r>
          </a:p>
          <a:p>
            <a:pPr marL="1070808" lvl="1" indent="-411849">
              <a:buFont typeface="Arial" panose="020B0604020202020204" pitchFamily="34" charset="0"/>
              <a:buChar char="•"/>
            </a:pPr>
            <a:r>
              <a:rPr lang="en-US" sz="3459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Day of Birth: </a:t>
            </a:r>
            <a:r>
              <a:rPr lang="en-US" sz="3459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Day the agent was born.</a:t>
            </a:r>
            <a:endParaRPr lang="en-US" sz="2795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51766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8863E-DECD-058C-142A-28D215CCE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03" y="-413468"/>
            <a:ext cx="14601681" cy="2098810"/>
          </a:xfrm>
        </p:spPr>
        <p:txBody>
          <a:bodyPr>
            <a:normAutofit/>
          </a:bodyPr>
          <a:lstStyle/>
          <a:p>
            <a:r>
              <a:rPr lang="en-US" sz="6000" b="1" cap="non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METRIC 1: “TICKET COUNT BY TIME (YEAR)”</a:t>
            </a:r>
            <a:endParaRPr lang="en-IN" sz="6000" b="1" cap="none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EB33964-0CB9-761A-8F9A-9C7BA2E3824B}"/>
              </a:ext>
            </a:extLst>
          </p:cNvPr>
          <p:cNvSpPr txBox="1"/>
          <p:nvPr/>
        </p:nvSpPr>
        <p:spPr>
          <a:xfrm>
            <a:off x="8909963" y="2617521"/>
            <a:ext cx="9020004" cy="2970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11849" indent="-411849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rial" panose="020B0604020202020204" pitchFamily="34" charset="0"/>
              </a:rPr>
              <a:t> This tracks the total number of tickets created each year.</a:t>
            </a:r>
          </a:p>
          <a:p>
            <a:pPr marL="411849" indent="-411849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rial" panose="020B0604020202020204" pitchFamily="34" charset="0"/>
              </a:rPr>
              <a:t> It helps in understanding year-over-year trends and analyzing ticket volumes over long periods</a:t>
            </a:r>
            <a:endParaRPr lang="en-IN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1A9AB96-A02E-DAA0-8BB5-1D25BF8C55A8}"/>
              </a:ext>
            </a:extLst>
          </p:cNvPr>
          <p:cNvSpPr txBox="1"/>
          <p:nvPr/>
        </p:nvSpPr>
        <p:spPr>
          <a:xfrm>
            <a:off x="175403" y="6949886"/>
            <a:ext cx="2196429" cy="724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35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Analysis: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8D89B56-C598-4D90-6260-7893B42A4AF9}"/>
              </a:ext>
            </a:extLst>
          </p:cNvPr>
          <p:cNvSpPr txBox="1"/>
          <p:nvPr/>
        </p:nvSpPr>
        <p:spPr>
          <a:xfrm>
            <a:off x="63092" y="7821879"/>
            <a:ext cx="1822490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11849" indent="-411849" algn="just">
              <a:buFont typeface="Wingdings" panose="05000000000000000000" pitchFamily="2" charset="2"/>
              <a:buChar char="Ø"/>
            </a:pP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Arial" panose="020B0604020202020204" pitchFamily="34" charset="0"/>
              </a:rPr>
              <a:t> This chart shows a consistent year-over-year increase in the total number of tickets created from 2016 to 2020. </a:t>
            </a:r>
          </a:p>
          <a:p>
            <a:pPr marL="411849" indent="-411849" algn="just">
              <a:buFont typeface="Wingdings" panose="05000000000000000000" pitchFamily="2" charset="2"/>
              <a:buChar char="Ø"/>
            </a:pP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Arial" panose="020B0604020202020204" pitchFamily="34" charset="0"/>
              </a:rPr>
              <a:t> The ticket volume has grown steadily, with significant growth observed between 2019 (21,490) and 2020 (29,088), indicating an accelerating trend in ticket creation.</a:t>
            </a:r>
          </a:p>
          <a:p>
            <a:pPr marL="411849" indent="-411849" algn="just">
              <a:buFont typeface="Wingdings" panose="05000000000000000000" pitchFamily="2" charset="2"/>
              <a:buChar char="Ø"/>
            </a:pP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Arial" panose="020B0604020202020204" pitchFamily="34" charset="0"/>
              </a:rPr>
              <a:t> This growth could reflect expanding operations, increased demand, or enhanced reporting mechanisms</a:t>
            </a:r>
            <a:r>
              <a:rPr lang="en-US" sz="3200" dirty="0">
                <a:ea typeface="Arial" panose="020B0604020202020204" pitchFamily="34" charset="0"/>
              </a:rPr>
              <a:t>.</a:t>
            </a:r>
            <a:endParaRPr lang="en-US" sz="3200" dirty="0"/>
          </a:p>
        </p:txBody>
      </p:sp>
      <p:graphicFrame>
        <p:nvGraphicFramePr>
          <p:cNvPr id="29" name="Chart 28">
            <a:extLst>
              <a:ext uri="{FF2B5EF4-FFF2-40B4-BE49-F238E27FC236}">
                <a16:creationId xmlns:a16="http://schemas.microsoft.com/office/drawing/2014/main" id="{3D2C9868-8893-AA0C-7A6F-69EDF062783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95645323"/>
              </p:ext>
            </p:extLst>
          </p:nvPr>
        </p:nvGraphicFramePr>
        <p:xfrm>
          <a:off x="525923" y="2038425"/>
          <a:ext cx="7928220" cy="45583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580068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5" grpId="0"/>
      <p:bldP spid="26" grpId="0"/>
      <p:bldP spid="27" grpId="0"/>
      <p:bldGraphic spid="29" grpId="0">
        <p:bldSub>
          <a:bldChart bld="category"/>
        </p:bldSub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6C491-B673-D409-709D-8B7C32890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90160"/>
            <a:ext cx="16348755" cy="2098810"/>
          </a:xfrm>
        </p:spPr>
        <p:txBody>
          <a:bodyPr>
            <a:normAutofit/>
          </a:bodyPr>
          <a:lstStyle/>
          <a:p>
            <a:r>
              <a:rPr lang="en-US" sz="6000" b="1" cap="non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METRIC 2: “TICKETS BY REQUEST CATEGORY”</a:t>
            </a:r>
            <a:endParaRPr lang="en-IN" sz="6000" b="1" cap="none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5627441-CB39-672B-FF6A-994FD4CDD9C5}"/>
              </a:ext>
            </a:extLst>
          </p:cNvPr>
          <p:cNvSpPr txBox="1"/>
          <p:nvPr/>
        </p:nvSpPr>
        <p:spPr>
          <a:xfrm>
            <a:off x="426720" y="6941723"/>
            <a:ext cx="2196429" cy="724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35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Analysis: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6D08379-127D-B87A-62E4-E9FFDFDE9589}"/>
              </a:ext>
            </a:extLst>
          </p:cNvPr>
          <p:cNvSpPr txBox="1"/>
          <p:nvPr/>
        </p:nvSpPr>
        <p:spPr>
          <a:xfrm>
            <a:off x="6979920" y="2316480"/>
            <a:ext cx="11186160" cy="4199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Arial" panose="020B0604020202020204" pitchFamily="34" charset="0"/>
              </a:rPr>
              <a:t> Tickets are grouped into predefined categories such as Hardware, Login Access, Software, and System, and the count is determined for each.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Arial" panose="020B0604020202020204" pitchFamily="34" charset="0"/>
              </a:rPr>
              <a:t> This shows which category generates the highest or lowest number of requests, allowing for better resource allocation.</a:t>
            </a:r>
            <a:endParaRPr lang="en-IN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IN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1E1BC5-A243-D3C7-C344-6EC062E3D3A4}"/>
              </a:ext>
            </a:extLst>
          </p:cNvPr>
          <p:cNvSpPr txBox="1"/>
          <p:nvPr/>
        </p:nvSpPr>
        <p:spPr>
          <a:xfrm>
            <a:off x="426720" y="7796464"/>
            <a:ext cx="17434560" cy="2968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Arial" panose="020B0604020202020204" pitchFamily="34" charset="0"/>
              </a:rPr>
              <a:t>This chart indicates that System-related tickets constitute the largest share at 39,002, followed by Login  Access (29,193) and Software (19,570), with Hardware having the lowest proportion at 9,733. </a:t>
            </a:r>
          </a:p>
          <a:p>
            <a:pPr marL="457200" indent="-4572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Arial" panose="020B0604020202020204" pitchFamily="34" charset="0"/>
              </a:rPr>
              <a:t>The dominance of System tickets suggests it requires the most resources, while Hardware issues may need less focus. </a:t>
            </a:r>
          </a:p>
          <a:p>
            <a:pPr algn="just">
              <a:lnSpc>
                <a:spcPct val="100000"/>
              </a:lnSpc>
            </a:pP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Arial" panose="020B0604020202020204" pitchFamily="34" charset="0"/>
              </a:rPr>
              <a:t>    This breakdown can guide targeted resource allocation</a:t>
            </a:r>
            <a:endParaRPr lang="en-IN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IN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A4B773A7-B61E-44E1-899C-383D22CD4A6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83401444"/>
              </p:ext>
            </p:extLst>
          </p:nvPr>
        </p:nvGraphicFramePr>
        <p:xfrm>
          <a:off x="426720" y="1951771"/>
          <a:ext cx="5835421" cy="43495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07006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6" grpId="0"/>
      <p:bldP spid="29" grpId="0"/>
      <p:bldP spid="30" grpId="0"/>
      <p:bldGraphic spid="3" grpId="0">
        <p:bldSub>
          <a:bldChart bld="category"/>
        </p:bldSub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A282BA9-2051-C757-841E-2F4AF4984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50628"/>
            <a:ext cx="14601681" cy="2098810"/>
          </a:xfrm>
        </p:spPr>
        <p:txBody>
          <a:bodyPr>
            <a:normAutofit/>
          </a:bodyPr>
          <a:lstStyle/>
          <a:p>
            <a:r>
              <a:rPr lang="en-US" sz="6000" b="1" cap="non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METRIC 3: “TICKET COUNT BY SEVERITY RATE”</a:t>
            </a:r>
            <a:endParaRPr lang="en-IN" sz="6000" b="1" cap="none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3C3BE797-427C-3E79-11EA-BF2EADDF484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20757911"/>
              </p:ext>
            </p:extLst>
          </p:nvPr>
        </p:nvGraphicFramePr>
        <p:xfrm>
          <a:off x="412360" y="2270760"/>
          <a:ext cx="6507480" cy="414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D785766-784C-83D7-1A6A-C8AB519989C0}"/>
              </a:ext>
            </a:extLst>
          </p:cNvPr>
          <p:cNvSpPr txBox="1"/>
          <p:nvPr/>
        </p:nvSpPr>
        <p:spPr>
          <a:xfrm>
            <a:off x="7147560" y="2701611"/>
            <a:ext cx="11140440" cy="3709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rial" panose="020B0604020202020204" pitchFamily="34" charset="0"/>
              </a:rPr>
              <a:t>This group’s tickets are based on their severity and provide the total count for each category.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0-Unclassified</a:t>
            </a:r>
            <a:r>
              <a:rPr lang="en-US" sz="3200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 1-Minor</a:t>
            </a:r>
            <a:r>
              <a:rPr lang="en-US" sz="3200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rial" panose="020B0604020202020204" pitchFamily="34" charset="0"/>
              </a:rPr>
              <a:t> ,</a:t>
            </a:r>
            <a:r>
              <a:rPr lang="en-US" sz="3200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2-Normal</a:t>
            </a:r>
            <a:r>
              <a:rPr lang="en-US" sz="3200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rial" panose="020B0604020202020204" pitchFamily="34" charset="0"/>
              </a:rPr>
              <a:t>,  </a:t>
            </a:r>
            <a:r>
              <a:rPr lang="en-US" sz="3200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3-Major,  4-Urgent</a:t>
            </a: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en-US" sz="3200" dirty="0">
              <a:ln w="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rial" panose="020B0604020202020204" pitchFamily="34" charset="0"/>
              </a:rPr>
              <a:t>It highlights the proportion of tickets with varying levels of urgency.</a:t>
            </a:r>
            <a:endParaRPr lang="en-US" sz="3200" dirty="0">
              <a:ln w="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C318A9-2622-A8F6-A7E1-DE974A1579DF}"/>
              </a:ext>
            </a:extLst>
          </p:cNvPr>
          <p:cNvSpPr txBox="1"/>
          <p:nvPr/>
        </p:nvSpPr>
        <p:spPr>
          <a:xfrm>
            <a:off x="289560" y="7133538"/>
            <a:ext cx="2196429" cy="724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35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Analysis: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39CF1A-8460-F801-B03A-715D94BB18EB}"/>
              </a:ext>
            </a:extLst>
          </p:cNvPr>
          <p:cNvSpPr txBox="1"/>
          <p:nvPr/>
        </p:nvSpPr>
        <p:spPr>
          <a:xfrm>
            <a:off x="289560" y="8168640"/>
            <a:ext cx="1799844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Arial" panose="020B0604020202020204" pitchFamily="34" charset="0"/>
              </a:rPr>
              <a:t>  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Arial" panose="020B0604020202020204" pitchFamily="34" charset="0"/>
              </a:rPr>
              <a:t>This chart shows the distribution of tickets by severity levels, with severity 2 having the highest count (88,656), indicating </a:t>
            </a:r>
          </a:p>
          <a:p>
            <a:pPr marL="285750" indent="-28575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Arial" panose="020B0604020202020204" pitchFamily="34" charset="0"/>
              </a:rPr>
              <a:t>  It is the most common urgency level. Severities 3 (4,836) and 1 (2,258) follow, while severities 0 (356) and 4 (1,392) are comparatively rare, suggesting that most tickets fall into mid-level urgency.</a:t>
            </a:r>
            <a:endParaRPr lang="en-US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26343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Graphic spid="5" grpId="0">
        <p:bldSub>
          <a:bldChart bld="category"/>
        </p:bldSub>
      </p:bldGraphic>
      <p:bldP spid="6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54EA6DA-B105-1D51-C5D0-F04854436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50628"/>
            <a:ext cx="14601681" cy="2098810"/>
          </a:xfrm>
        </p:spPr>
        <p:txBody>
          <a:bodyPr>
            <a:normAutofit/>
          </a:bodyPr>
          <a:lstStyle/>
          <a:p>
            <a:r>
              <a:rPr lang="en-US" sz="6000" b="1" cap="non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METRIC 4: “TICKETS BY PRIORITY”</a:t>
            </a:r>
            <a:endParaRPr lang="en-IN" sz="6000" b="1" cap="none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4610BAFE-9EB9-4C8A-9FCD-9C6B1E9E6D6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23854689"/>
              </p:ext>
            </p:extLst>
          </p:nvPr>
        </p:nvGraphicFramePr>
        <p:xfrm>
          <a:off x="425277" y="1918740"/>
          <a:ext cx="6365267" cy="42422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84C62A0-9080-1275-555E-C7DA1B5DFB6B}"/>
              </a:ext>
            </a:extLst>
          </p:cNvPr>
          <p:cNvSpPr txBox="1"/>
          <p:nvPr/>
        </p:nvSpPr>
        <p:spPr>
          <a:xfrm>
            <a:off x="7519510" y="2754241"/>
            <a:ext cx="10768489" cy="2970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Arial" panose="020B0604020202020204" pitchFamily="34" charset="0"/>
              </a:rPr>
              <a:t>This categorizes tickets based on their assigned priority levels and tracks the total count in each category.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dirty="0"/>
              <a:t>0-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Arial" panose="020B0604020202020204" pitchFamily="34" charset="0"/>
              </a:rPr>
              <a:t> Unassigned, 1- Low,  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2- Mid,   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Arial" panose="020B0604020202020204" pitchFamily="34" charset="0"/>
              </a:rPr>
              <a:t>3- High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Arial" panose="020B0604020202020204" pitchFamily="34" charset="0"/>
              </a:rPr>
              <a:t>It identifies the tickets requiring immediate attention</a:t>
            </a:r>
            <a:r>
              <a:rPr lang="en-US" sz="2800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Arial" panose="020B0604020202020204" pitchFamily="34" charset="0"/>
              </a:rPr>
              <a:t>.</a:t>
            </a:r>
            <a:endParaRPr lang="en-IN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6C5660-8EB7-48BF-5AAF-6DA3E977A1A4}"/>
              </a:ext>
            </a:extLst>
          </p:cNvPr>
          <p:cNvSpPr txBox="1"/>
          <p:nvPr/>
        </p:nvSpPr>
        <p:spPr>
          <a:xfrm>
            <a:off x="425277" y="7163517"/>
            <a:ext cx="2196429" cy="724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35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Analysis: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11B3BB-ADD8-B479-5476-817AD6FCCEA7}"/>
              </a:ext>
            </a:extLst>
          </p:cNvPr>
          <p:cNvSpPr txBox="1"/>
          <p:nvPr/>
        </p:nvSpPr>
        <p:spPr>
          <a:xfrm>
            <a:off x="295084" y="8259580"/>
            <a:ext cx="1799291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Arial" panose="020B0604020202020204" pitchFamily="34" charset="0"/>
              </a:rPr>
              <a:t>This chart depicts the distribution of tickets by priority level. Priority 3 has the highest count (35,549), indicating the largest number of tickets requiring immediate attention. </a:t>
            </a:r>
          </a:p>
          <a:p>
            <a:pPr algn="just">
              <a:lnSpc>
                <a:spcPct val="100000"/>
              </a:lnSpc>
            </a:pP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Arial" panose="020B0604020202020204" pitchFamily="34" charset="0"/>
              </a:rPr>
              <a:t>Priorities 0 (29,410) and 1 (16,694) follow, while priority 2 (15,845) has the smallest share.</a:t>
            </a:r>
            <a:endParaRPr lang="en-US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01784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Graphic spid="3" grpId="0">
        <p:bldSub>
          <a:bldChart bld="category"/>
        </p:bldSub>
      </p:bldGraphic>
      <p:bldP spid="6" grpId="0"/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F250160-783D-73B3-5AC9-3204A7B0448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8288000" cy="209881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658959" rtl="0" eaLnBrk="1" latinLnBrk="0" hangingPunct="1">
              <a:spcBef>
                <a:spcPct val="0"/>
              </a:spcBef>
              <a:buNone/>
              <a:defRPr sz="5189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60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Metric 5: “Distribution of tickets based  </a:t>
            </a:r>
          </a:p>
          <a:p>
            <a:r>
              <a:rPr lang="en-US" sz="60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on satisfaction</a:t>
            </a:r>
            <a:r>
              <a:rPr lang="en-US" sz="6000" b="1" dirty="0"/>
              <a:t>”</a:t>
            </a:r>
            <a:endParaRPr lang="en-IN" sz="6000" b="1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FCC9F28D-F99F-4A3E-B6E2-E882002E5A3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78836301"/>
              </p:ext>
            </p:extLst>
          </p:nvPr>
        </p:nvGraphicFramePr>
        <p:xfrm>
          <a:off x="347062" y="2673591"/>
          <a:ext cx="6818236" cy="39970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470CBFB-BC93-1F7D-18F5-09D43D9F8E04}"/>
              </a:ext>
            </a:extLst>
          </p:cNvPr>
          <p:cNvSpPr txBox="1"/>
          <p:nvPr/>
        </p:nvSpPr>
        <p:spPr>
          <a:xfrm>
            <a:off x="7480091" y="3369538"/>
            <a:ext cx="10807909" cy="2605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This metric examines how tickets are distributed across various customer satisfaction levels.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For example, tickets may be grouped by satisfaction scores (e.g., 1–5), showing the proportion of satisfied vs. dissatisfied customers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.</a:t>
            </a:r>
            <a:endParaRPr lang="en-US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477268-4B70-8306-ABB4-C01127DA65D6}"/>
              </a:ext>
            </a:extLst>
          </p:cNvPr>
          <p:cNvSpPr txBox="1"/>
          <p:nvPr/>
        </p:nvSpPr>
        <p:spPr>
          <a:xfrm>
            <a:off x="233491" y="7963786"/>
            <a:ext cx="17821017" cy="24756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Arial" panose="020B0604020202020204" pitchFamily="34" charset="0"/>
              </a:rPr>
              <a:t>Satisfaction score 5 has the highest number of tickets (50,770), followed by score 4 (27,562), indicating a significant majority of positive feedback. 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Arial" panose="020B0604020202020204" pitchFamily="34" charset="0"/>
              </a:rPr>
              <a:t>Lower scores, especially 2 (1,977) and 3 (7,282), represent smaller proportions, suggesting relatively fewer dissatisfied customers.</a:t>
            </a:r>
            <a:endParaRPr lang="en-US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1CD7A0-8181-6745-C859-6F2D715FF605}"/>
              </a:ext>
            </a:extLst>
          </p:cNvPr>
          <p:cNvSpPr txBox="1"/>
          <p:nvPr/>
        </p:nvSpPr>
        <p:spPr>
          <a:xfrm>
            <a:off x="499462" y="7214241"/>
            <a:ext cx="2196429" cy="724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35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Analysis:</a:t>
            </a:r>
          </a:p>
        </p:txBody>
      </p:sp>
    </p:spTree>
    <p:extLst>
      <p:ext uri="{BB962C8B-B14F-4D97-AF65-F5344CB8AC3E}">
        <p14:creationId xmlns:p14="http://schemas.microsoft.com/office/powerpoint/2010/main" val="2784584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Graphic spid="4" grpId="0">
        <p:bldSub>
          <a:bldChart bld="category"/>
        </p:bldSub>
      </p:bldGraphic>
      <p:bldP spid="5" grpId="0"/>
      <p:bldP spid="6" grpId="0"/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B313D25-AC4C-F51E-F71E-1515501BE942}"/>
              </a:ext>
            </a:extLst>
          </p:cNvPr>
          <p:cNvSpPr txBox="1">
            <a:spLocks/>
          </p:cNvSpPr>
          <p:nvPr/>
        </p:nvSpPr>
        <p:spPr>
          <a:xfrm>
            <a:off x="36513" y="-117423"/>
            <a:ext cx="18288000" cy="209881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658959" rtl="0" eaLnBrk="1" latinLnBrk="0" hangingPunct="1">
              <a:spcBef>
                <a:spcPct val="0"/>
              </a:spcBef>
              <a:buNone/>
              <a:defRPr sz="5189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60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Metric 6: “Average Resolution Time by Request Category Quarterly”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A8AC43B6-E8BF-C4D2-1853-FE4AA1EC584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62111116"/>
              </p:ext>
            </p:extLst>
          </p:nvPr>
        </p:nvGraphicFramePr>
        <p:xfrm>
          <a:off x="299804" y="2649739"/>
          <a:ext cx="7315200" cy="43506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C59BAB7-19AB-CC3B-CCD0-EFB85D7B4292}"/>
              </a:ext>
            </a:extLst>
          </p:cNvPr>
          <p:cNvSpPr txBox="1"/>
          <p:nvPr/>
        </p:nvSpPr>
        <p:spPr>
          <a:xfrm>
            <a:off x="7809876" y="3177915"/>
            <a:ext cx="10478124" cy="3460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Arial" panose="020B0604020202020204" pitchFamily="34" charset="0"/>
              </a:rPr>
              <a:t>This shows the average resolution time for different request categories (Hardware, Login Access, Software, and System) across four quarters. 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Arial" panose="020B0604020202020204" pitchFamily="34" charset="0"/>
              </a:rPr>
              <a:t>It provides a periodic view of resolution efficiency.</a:t>
            </a:r>
            <a:endParaRPr lang="en-US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65293D-F9D5-B7B0-B1E6-46CD4F300853}"/>
              </a:ext>
            </a:extLst>
          </p:cNvPr>
          <p:cNvSpPr txBox="1"/>
          <p:nvPr/>
        </p:nvSpPr>
        <p:spPr>
          <a:xfrm>
            <a:off x="299804" y="7434560"/>
            <a:ext cx="2196429" cy="724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35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Analysis: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095504-823F-DEBA-031C-7823B9764D69}"/>
              </a:ext>
            </a:extLst>
          </p:cNvPr>
          <p:cNvSpPr txBox="1"/>
          <p:nvPr/>
        </p:nvSpPr>
        <p:spPr>
          <a:xfrm>
            <a:off x="299804" y="8196935"/>
            <a:ext cx="1798819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Arial" panose="020B0604020202020204" pitchFamily="34" charset="0"/>
              </a:rPr>
              <a:t>Hardware consistently takes the longest to resolve (~7.5–7.7 hours), while Login Access is the quickest (~0.3 hours). 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Arial" panose="020B0604020202020204" pitchFamily="34" charset="0"/>
              </a:rPr>
              <a:t>Resolution times for Software and System remain steady across quarters at ~5.2–5.3 and ~6.6 hours, respectively, indicating consistent performance in these areas.</a:t>
            </a:r>
            <a:endParaRPr lang="en-US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1932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3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Graphic spid="5" grpId="0">
        <p:bldSub>
          <a:bldChart bld="series"/>
        </p:bldSub>
      </p:bldGraphic>
      <p:bldP spid="6" grpId="0"/>
      <p:bldP spid="10" grpId="0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F7A85C5-A189-178F-FFD9-DF9217BD4D68}"/>
              </a:ext>
            </a:extLst>
          </p:cNvPr>
          <p:cNvSpPr txBox="1">
            <a:spLocks/>
          </p:cNvSpPr>
          <p:nvPr/>
        </p:nvSpPr>
        <p:spPr>
          <a:xfrm>
            <a:off x="36513" y="-444709"/>
            <a:ext cx="18288000" cy="209881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658959" rtl="0" eaLnBrk="1" latinLnBrk="0" hangingPunct="1">
              <a:spcBef>
                <a:spcPct val="0"/>
              </a:spcBef>
              <a:buNone/>
              <a:defRPr sz="5189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60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Metric 7: “Satisfaction Rate By Time (Year)”</a:t>
            </a:r>
            <a:endParaRPr lang="en-IN" sz="60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55C1CBE5-1176-D925-B33E-D5FBFB3C82C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26218885"/>
              </p:ext>
            </p:extLst>
          </p:nvPr>
        </p:nvGraphicFramePr>
        <p:xfrm>
          <a:off x="208246" y="1654101"/>
          <a:ext cx="7337429" cy="45381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8B981B7-A593-A007-DC46-90672E65A594}"/>
              </a:ext>
            </a:extLst>
          </p:cNvPr>
          <p:cNvSpPr txBox="1"/>
          <p:nvPr/>
        </p:nvSpPr>
        <p:spPr>
          <a:xfrm>
            <a:off x="7933565" y="2736164"/>
            <a:ext cx="10763750" cy="2970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ln w="0"/>
                <a:ea typeface="Arial" panose="020B0604020202020204" pitchFamily="34" charset="0"/>
              </a:rPr>
              <a:t>This measures customer satisfaction rates (e.g., 1-5) and tracks how they change over the years.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ln w="0"/>
                <a:ea typeface="Arial" panose="020B0604020202020204" pitchFamily="34" charset="0"/>
              </a:rPr>
              <a:t>It’s useful for identifying long-term trends in customer experience</a:t>
            </a:r>
            <a:endParaRPr lang="en-IN" sz="3200" dirty="0">
              <a:ln w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DD7BE7-AE8B-0FC9-1088-98A2CE998A1F}"/>
              </a:ext>
            </a:extLst>
          </p:cNvPr>
          <p:cNvSpPr txBox="1"/>
          <p:nvPr/>
        </p:nvSpPr>
        <p:spPr>
          <a:xfrm>
            <a:off x="337904" y="6723360"/>
            <a:ext cx="2196429" cy="724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35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Analysis: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601685-7DFB-F18A-B2CB-3D3BC51F87AA}"/>
              </a:ext>
            </a:extLst>
          </p:cNvPr>
          <p:cNvSpPr txBox="1"/>
          <p:nvPr/>
        </p:nvSpPr>
        <p:spPr>
          <a:xfrm>
            <a:off x="337904" y="7979142"/>
            <a:ext cx="1795009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Arial" panose="020B0604020202020204" pitchFamily="34" charset="0"/>
              </a:rPr>
              <a:t>The chart shows a gradual improvement in customer satisfaction rates over the years, starting at 4.0 in 2016 and reaching 4.2 in 2020. 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Arial" panose="020B0604020202020204" pitchFamily="34" charset="0"/>
              </a:rPr>
              <a:t>While the increase is modest, it indicates a steady positive trend in customer experience. Maintaining or accelerating this trend could further enhance customer satisfaction.</a:t>
            </a:r>
            <a:endParaRPr lang="en-US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0851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Graphic spid="5" grpId="0">
        <p:bldSub>
          <a:bldChart bld="category"/>
        </p:bldSub>
      </p:bldGraphic>
      <p:bldP spid="6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07BC1EE-BC9E-D8AD-6C2E-1C2359CBCAF4}"/>
              </a:ext>
            </a:extLst>
          </p:cNvPr>
          <p:cNvSpPr txBox="1">
            <a:spLocks/>
          </p:cNvSpPr>
          <p:nvPr/>
        </p:nvSpPr>
        <p:spPr>
          <a:xfrm>
            <a:off x="36513" y="-470109"/>
            <a:ext cx="18288000" cy="209881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658959" rtl="0" eaLnBrk="1" latinLnBrk="0" hangingPunct="1">
              <a:spcBef>
                <a:spcPct val="0"/>
              </a:spcBef>
              <a:buNone/>
              <a:defRPr sz="5189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Metric 8: “Satisfaction Rate By Age-groups”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D9823F86-BDC3-4387-DCFD-021A76AC11B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61739565"/>
              </p:ext>
            </p:extLst>
          </p:nvPr>
        </p:nvGraphicFramePr>
        <p:xfrm>
          <a:off x="277283" y="1828203"/>
          <a:ext cx="6807200" cy="43532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0C24ED0-4C7F-1827-838E-1B2DC7938DAD}"/>
              </a:ext>
            </a:extLst>
          </p:cNvPr>
          <p:cNvSpPr txBox="1"/>
          <p:nvPr/>
        </p:nvSpPr>
        <p:spPr>
          <a:xfrm>
            <a:off x="7145866" y="2406584"/>
            <a:ext cx="11027834" cy="2970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Arial" panose="020B0604020202020204" pitchFamily="34" charset="0"/>
              </a:rPr>
              <a:t>This analyzes satisfaction rates across different agent age groups (e.g., 24–27, 28–31, etc.).	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Arial" panose="020B0604020202020204" pitchFamily="34" charset="0"/>
              </a:rPr>
              <a:t>It explains how satisfaction levels vary based on demographic factors.</a:t>
            </a:r>
            <a:endParaRPr lang="en-US" sz="3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1A7E67-B412-6DF9-20D6-22E5A5CDB70E}"/>
              </a:ext>
            </a:extLst>
          </p:cNvPr>
          <p:cNvSpPr txBox="1"/>
          <p:nvPr/>
        </p:nvSpPr>
        <p:spPr>
          <a:xfrm>
            <a:off x="338666" y="6647160"/>
            <a:ext cx="2196429" cy="724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35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Analysis: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DB9DEA-A4EE-015E-4047-44BD33BB84E2}"/>
              </a:ext>
            </a:extLst>
          </p:cNvPr>
          <p:cNvSpPr txBox="1"/>
          <p:nvPr/>
        </p:nvSpPr>
        <p:spPr>
          <a:xfrm>
            <a:off x="277283" y="7753416"/>
            <a:ext cx="1773343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3200" dirty="0">
                <a:ln w="0"/>
                <a:ea typeface="Arial" panose="020B0604020202020204" pitchFamily="34" charset="0"/>
              </a:rPr>
              <a:t>The 48–51 age group shows the highest satisfaction rate at 4.4, while the 36–39 age group has the lowest at 3.9.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3200" dirty="0">
                <a:ln w="0"/>
                <a:ea typeface="Arial" panose="020B0604020202020204" pitchFamily="34" charset="0"/>
              </a:rPr>
              <a:t>Younger and middle-aged groups (“24–27” and “32–35”,”40-43”,”44-47”) also report relatively higher satisfaction rates, indicating that older and younger demographics may have different expectations or experiences</a:t>
            </a:r>
            <a:r>
              <a:rPr lang="en-US" i="1" dirty="0">
                <a:ea typeface="Arial" panose="020B0604020202020204" pitchFamily="34" charset="0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1628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Graphic spid="4" grpId="0">
        <p:bldSub>
          <a:bldChart bld="category"/>
        </p:bldSub>
      </p:bldGraphic>
      <p:bldP spid="7" grpId="0"/>
      <p:bldP spid="10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CB911E9-6430-D1AE-C4A6-5CFA84C3EA38}"/>
              </a:ext>
            </a:extLst>
          </p:cNvPr>
          <p:cNvSpPr txBox="1">
            <a:spLocks/>
          </p:cNvSpPr>
          <p:nvPr/>
        </p:nvSpPr>
        <p:spPr>
          <a:xfrm>
            <a:off x="127953" y="-185343"/>
            <a:ext cx="18586768" cy="209881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658959" rtl="0" eaLnBrk="1" latinLnBrk="0" hangingPunct="1">
              <a:spcBef>
                <a:spcPct val="0"/>
              </a:spcBef>
              <a:buNone/>
              <a:defRPr sz="5189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60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Metric 9: “Distribution Of Tickets Based On Resolution Time”</a:t>
            </a:r>
            <a:endParaRPr lang="en-IN" sz="60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C893F41A-26A5-A2E7-B725-1FDBE4606BE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041001"/>
              </p:ext>
            </p:extLst>
          </p:nvPr>
        </p:nvGraphicFramePr>
        <p:xfrm>
          <a:off x="338666" y="2119905"/>
          <a:ext cx="6874934" cy="39285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5EFE589-1D66-6A8C-2335-BF79353BA7DA}"/>
              </a:ext>
            </a:extLst>
          </p:cNvPr>
          <p:cNvSpPr txBox="1"/>
          <p:nvPr/>
        </p:nvSpPr>
        <p:spPr>
          <a:xfrm>
            <a:off x="7515753" y="3339004"/>
            <a:ext cx="109855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Arial" panose="020B0604020202020204" pitchFamily="34" charset="0"/>
              </a:rPr>
              <a:t>This demonstrates the efficiency with which tickets are resolved and highlights areas for process improvement</a:t>
            </a:r>
            <a:r>
              <a:rPr lang="en-US" sz="3200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Arial" panose="020B0604020202020204" pitchFamily="34" charset="0"/>
              </a:rPr>
              <a:t>.</a:t>
            </a:r>
            <a:endParaRPr lang="en-US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4A0742-BB76-BDBE-8214-67065E53A6CA}"/>
              </a:ext>
            </a:extLst>
          </p:cNvPr>
          <p:cNvSpPr txBox="1"/>
          <p:nvPr/>
        </p:nvSpPr>
        <p:spPr>
          <a:xfrm>
            <a:off x="338666" y="6254877"/>
            <a:ext cx="2196429" cy="724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35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Analysis: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974BD5-A902-4C1D-B068-0C1ACD69B440}"/>
              </a:ext>
            </a:extLst>
          </p:cNvPr>
          <p:cNvSpPr txBox="1"/>
          <p:nvPr/>
        </p:nvSpPr>
        <p:spPr>
          <a:xfrm>
            <a:off x="351368" y="7392412"/>
            <a:ext cx="1759796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Arial" panose="020B0604020202020204" pitchFamily="34" charset="0"/>
              </a:rPr>
              <a:t>The chart indicates that a majority of tickets (over 25,000) are resolved on the same day (0 days), showcasing strong efficiency in immediate resolution. </a:t>
            </a:r>
          </a:p>
          <a:p>
            <a:pPr marL="457200" indent="-4572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32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Arial" panose="020B0604020202020204" pitchFamily="34" charset="0"/>
              </a:rPr>
              <a:t> A significant 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Arial" panose="020B0604020202020204" pitchFamily="34" charset="0"/>
              </a:rPr>
              <a:t>number of tickets take longer, with noticeable peaks around 1, 5, and 6 days, suggesting possible bottlenecks or complex cases requiring more time. </a:t>
            </a:r>
          </a:p>
          <a:p>
            <a:pPr marL="457200" indent="-4572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Arial" panose="020B0604020202020204" pitchFamily="34" charset="0"/>
              </a:rPr>
              <a:t>Process improvements could focus on reducing resolution times beyond the first day to enhance overall efficiency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133324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4" categoryIdx="1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4" categoryIdx="1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4" categoryIdx="1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4" categoryIdx="1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4" categoryIdx="1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4" categoryIdx="1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4" categoryIdx="1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4" categoryIdx="1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4" categoryIdx="1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4" categoryIdx="1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4" categoryIdx="2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4" categoryIdx="2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Graphic spid="4" grpId="0">
        <p:bldSub>
          <a:bldChart bld="category"/>
        </p:bldSub>
      </p:bldGraphic>
      <p:bldP spid="6" grpId="0"/>
      <p:bldP spid="7" grpId="0"/>
      <p:bldP spid="8" grpId="0" build="allAtOnce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61BC0BF-F7DA-80B7-7CD9-E0A8F82E92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06"/>
          <a:stretch>
            <a:fillRect/>
          </a:stretch>
        </p:blipFill>
        <p:spPr>
          <a:xfrm>
            <a:off x="336908" y="3213100"/>
            <a:ext cx="17614183" cy="612659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3F97AA5-5C91-8C9F-C27D-24C9A3EEB3C6}"/>
              </a:ext>
            </a:extLst>
          </p:cNvPr>
          <p:cNvSpPr txBox="1"/>
          <p:nvPr/>
        </p:nvSpPr>
        <p:spPr>
          <a:xfrm>
            <a:off x="6776488" y="911853"/>
            <a:ext cx="771888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DASH BOARD</a:t>
            </a:r>
          </a:p>
        </p:txBody>
      </p:sp>
    </p:spTree>
    <p:extLst>
      <p:ext uri="{BB962C8B-B14F-4D97-AF65-F5344CB8AC3E}">
        <p14:creationId xmlns:p14="http://schemas.microsoft.com/office/powerpoint/2010/main" val="5972113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243236-4F14-326F-AF52-F8B65580DCD6}"/>
              </a:ext>
            </a:extLst>
          </p:cNvPr>
          <p:cNvSpPr txBox="1"/>
          <p:nvPr/>
        </p:nvSpPr>
        <p:spPr>
          <a:xfrm>
            <a:off x="0" y="302253"/>
            <a:ext cx="18288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CONCLUSION</a:t>
            </a:r>
            <a:r>
              <a:rPr lang="en-US" sz="6000" b="1" dirty="0"/>
              <a:t>: </a:t>
            </a:r>
            <a:r>
              <a:rPr lang="en-US" sz="6000" b="1" dirty="0">
                <a:latin typeface="+mj-lt"/>
              </a:rPr>
              <a:t>COMPREHENSIVE ANALYSIS OF IT SUPPORT OPERATIONS</a:t>
            </a:r>
            <a:endParaRPr lang="en-IN" sz="66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AA9F13-5A3D-BC4E-AD7C-F208FDAC701C}"/>
              </a:ext>
            </a:extLst>
          </p:cNvPr>
          <p:cNvSpPr txBox="1"/>
          <p:nvPr/>
        </p:nvSpPr>
        <p:spPr>
          <a:xfrm>
            <a:off x="25400" y="2821258"/>
            <a:ext cx="18262600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3200" b="1" dirty="0">
                <a:highlight>
                  <a:srgbClr val="C0C0C0"/>
                </a:highlight>
              </a:rPr>
              <a:t>Agent Performance:</a:t>
            </a:r>
            <a:endParaRPr lang="en-US" altLang="en-US" sz="3200" dirty="0">
              <a:highlight>
                <a:srgbClr val="C0C0C0"/>
              </a:highlight>
            </a:endParaRPr>
          </a:p>
          <a:p>
            <a:pPr marL="1139686" lvl="1" indent="-4572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/>
              <a:t>The overall performance of IT agents is satisfactory, with an average resolution time of </a:t>
            </a:r>
            <a:r>
              <a:rPr lang="en-US" altLang="en-US" sz="3200" b="1" dirty="0"/>
              <a:t>4.5 days</a:t>
            </a:r>
            <a:r>
              <a:rPr lang="en-US" altLang="en-US" sz="3200" dirty="0"/>
              <a:t> and a consistent satisfaction rate of </a:t>
            </a:r>
            <a:r>
              <a:rPr lang="en-US" altLang="en-US" sz="3200" b="1" dirty="0"/>
              <a:t>4.1</a:t>
            </a:r>
            <a:r>
              <a:rPr lang="en-US" altLang="en-US" sz="3200" dirty="0"/>
              <a:t>.</a:t>
            </a:r>
          </a:p>
          <a:p>
            <a:pPr marL="1139686" lvl="1" indent="-4572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/>
              <a:t>Specific agents with prolonged resolution times and lower satisfaction scores require </a:t>
            </a:r>
            <a:r>
              <a:rPr lang="en-US" altLang="en-US" sz="3200" b="1" dirty="0"/>
              <a:t>targeted training programs</a:t>
            </a:r>
            <a:r>
              <a:rPr lang="en-US" altLang="en-US" sz="3200" dirty="0"/>
              <a:t> to address skill gaps.</a:t>
            </a:r>
          </a:p>
          <a:p>
            <a:pPr marL="457200" lvl="0" indent="-4572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3200" b="1" dirty="0">
                <a:highlight>
                  <a:srgbClr val="C0C0C0"/>
                </a:highlight>
              </a:rPr>
              <a:t>Category Insights:</a:t>
            </a:r>
            <a:endParaRPr lang="en-US" altLang="en-US" sz="3200" dirty="0">
              <a:highlight>
                <a:srgbClr val="C0C0C0"/>
              </a:highlight>
            </a:endParaRPr>
          </a:p>
          <a:p>
            <a:pPr marL="1139686" lvl="1" indent="-4572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 b="1" dirty="0"/>
              <a:t>Hardware requests</a:t>
            </a:r>
            <a:r>
              <a:rPr lang="en-US" altLang="en-US" sz="3200" dirty="0"/>
              <a:t> have the longest resolution times (</a:t>
            </a:r>
            <a:r>
              <a:rPr lang="en-US" altLang="en-US" sz="3200" b="1" dirty="0"/>
              <a:t>7.63 days</a:t>
            </a:r>
            <a:r>
              <a:rPr lang="en-US" altLang="en-US" sz="3200" dirty="0"/>
              <a:t>) and demand immediate process optimization.</a:t>
            </a:r>
          </a:p>
          <a:p>
            <a:pPr marL="1139686" lvl="1" indent="-4572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 b="1" dirty="0"/>
              <a:t>Login access issues</a:t>
            </a:r>
            <a:r>
              <a:rPr lang="en-US" altLang="en-US" sz="3200" dirty="0"/>
              <a:t> are resolved quickly (</a:t>
            </a:r>
            <a:r>
              <a:rPr lang="en-US" altLang="en-US" sz="3200" b="1" dirty="0"/>
              <a:t>0.31 days</a:t>
            </a:r>
            <a:r>
              <a:rPr lang="en-US" altLang="en-US" sz="3200" dirty="0"/>
              <a:t>), indicating efficient handling.</a:t>
            </a:r>
          </a:p>
          <a:p>
            <a:pPr marL="457200" indent="-4572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3200" b="1" dirty="0">
                <a:highlight>
                  <a:srgbClr val="C0C0C0"/>
                </a:highlight>
              </a:rPr>
              <a:t>Workload and Trends: </a:t>
            </a:r>
            <a:r>
              <a:rPr lang="en-US" altLang="en-US" sz="3200" dirty="0"/>
              <a:t>As a result of rising demand for IT support, ticket volumes have been rising gradually and reached a peak at the end of the year. The team has demonstrated efficient resource management by maintaining consistent satisfaction levels in spite of increasing volumes.</a:t>
            </a:r>
          </a:p>
          <a:p>
            <a:pPr marL="457200" indent="-4572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3200" b="1" dirty="0">
                <a:highlight>
                  <a:srgbClr val="C0C0C0"/>
                </a:highlight>
              </a:rPr>
              <a:t>Efficiency of Software Tools</a:t>
            </a:r>
            <a:r>
              <a:rPr lang="en-US" altLang="en-US" sz="3200" dirty="0">
                <a:highlight>
                  <a:srgbClr val="C0C0C0"/>
                </a:highlight>
              </a:rPr>
              <a:t>: </a:t>
            </a:r>
            <a:r>
              <a:rPr lang="en-US" altLang="en-US" sz="3200" dirty="0"/>
              <a:t>The ticket management systems in use today are mediocrely effective, but they could be better, especially in terms of speeding up resolution times for system and hardware categories.</a:t>
            </a:r>
          </a:p>
        </p:txBody>
      </p:sp>
    </p:spTree>
    <p:extLst>
      <p:ext uri="{BB962C8B-B14F-4D97-AF65-F5344CB8AC3E}">
        <p14:creationId xmlns:p14="http://schemas.microsoft.com/office/powerpoint/2010/main" val="3120592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6A85275-9DE7-EECE-5C4F-66C194E0DEA3}"/>
              </a:ext>
            </a:extLst>
          </p:cNvPr>
          <p:cNvSpPr txBox="1"/>
          <p:nvPr/>
        </p:nvSpPr>
        <p:spPr>
          <a:xfrm>
            <a:off x="0" y="2108200"/>
            <a:ext cx="182880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3200" b="1" dirty="0"/>
              <a:t>Investment Priorities:</a:t>
            </a:r>
            <a:endParaRPr lang="en-US" altLang="en-US" sz="3200" dirty="0"/>
          </a:p>
          <a:p>
            <a:pPr marL="1139686" lvl="1" indent="-4572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 b="1" dirty="0"/>
              <a:t>Training programs</a:t>
            </a:r>
            <a:r>
              <a:rPr lang="en-US" altLang="en-US" sz="3200" dirty="0"/>
              <a:t> and </a:t>
            </a:r>
            <a:r>
              <a:rPr lang="en-US" altLang="en-US" sz="3200" b="1" dirty="0"/>
              <a:t>software upgrades</a:t>
            </a:r>
            <a:r>
              <a:rPr lang="en-US" altLang="en-US" sz="3200" dirty="0"/>
              <a:t> should be prioritized over hiring new agents to enhance resolution efficiency.</a:t>
            </a:r>
          </a:p>
          <a:p>
            <a:pPr marL="1139686" lvl="1" indent="-4572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/>
              <a:t>Investment in technology can improve resolution times for high-complexity requests without significantly altering satisfaction rates.</a:t>
            </a:r>
          </a:p>
          <a:p>
            <a:pPr marL="457200" lvl="0" indent="-4572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3200" b="1" dirty="0"/>
              <a:t>Future Focus Areas:</a:t>
            </a:r>
            <a:endParaRPr lang="en-US" altLang="en-US" sz="3200" dirty="0"/>
          </a:p>
          <a:p>
            <a:pPr marL="1139686" lvl="1" indent="-4572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 b="1" dirty="0"/>
              <a:t> Process Optimization:</a:t>
            </a:r>
            <a:r>
              <a:rPr lang="en-US" altLang="en-US" sz="3200" dirty="0"/>
              <a:t> Streamline workflows for complex request categories (e.g., hardware and system).</a:t>
            </a:r>
          </a:p>
          <a:p>
            <a:pPr marL="1139686" lvl="1" indent="-4572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 b="1" dirty="0"/>
              <a:t>Data-Driven Decisions:</a:t>
            </a:r>
            <a:r>
              <a:rPr lang="en-US" altLang="en-US" sz="3200" dirty="0"/>
              <a:t> Monitor agent and ticket trends regularly to identify improvement areas.</a:t>
            </a:r>
          </a:p>
          <a:p>
            <a:pPr marL="1139686" lvl="1" indent="-4572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 b="1" dirty="0"/>
              <a:t>Balanced Resource Allocation:</a:t>
            </a:r>
            <a:r>
              <a:rPr lang="en-US" altLang="en-US" sz="3200" dirty="0"/>
              <a:t> Address peak workload periods through proactive resource planning and efficient prioritization.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6D67D8D-FE17-A07E-9621-B0F2CC923451}"/>
              </a:ext>
            </a:extLst>
          </p:cNvPr>
          <p:cNvSpPr txBox="1">
            <a:spLocks/>
          </p:cNvSpPr>
          <p:nvPr/>
        </p:nvSpPr>
        <p:spPr>
          <a:xfrm>
            <a:off x="5713413" y="-457409"/>
            <a:ext cx="18288000" cy="209881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658959" rtl="0" eaLnBrk="1" latinLnBrk="0" hangingPunct="1">
              <a:spcBef>
                <a:spcPct val="0"/>
              </a:spcBef>
              <a:buNone/>
              <a:defRPr sz="5189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1063732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BA0A994-92C5-AFBE-B98C-EE420288B916}"/>
              </a:ext>
            </a:extLst>
          </p:cNvPr>
          <p:cNvSpPr/>
          <p:nvPr/>
        </p:nvSpPr>
        <p:spPr>
          <a:xfrm>
            <a:off x="4768892" y="3874115"/>
            <a:ext cx="8750216" cy="221599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38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189671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1237</TotalTime>
  <Words>1629</Words>
  <Application>Microsoft Office PowerPoint</Application>
  <PresentationFormat>Custom</PresentationFormat>
  <Paragraphs>130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Arial Black</vt:lpstr>
      <vt:lpstr>Calibri</vt:lpstr>
      <vt:lpstr>Calibri Light</vt:lpstr>
      <vt:lpstr>Wingdings</vt:lpstr>
      <vt:lpstr>Celestial</vt:lpstr>
      <vt:lpstr>IT Ticket  Analysis </vt:lpstr>
      <vt:lpstr>Agenda </vt:lpstr>
      <vt:lpstr>PowerPoint Presentation</vt:lpstr>
      <vt:lpstr>Problem Statement </vt:lpstr>
      <vt:lpstr>PowerPoint Presentation</vt:lpstr>
      <vt:lpstr>DATA OVERVIEW</vt:lpstr>
      <vt:lpstr>METRIC 1: “TICKET COUNT BY TIME (YEAR)”</vt:lpstr>
      <vt:lpstr>METRIC 2: “TICKETS BY REQUEST CATEGORY”</vt:lpstr>
      <vt:lpstr>METRIC 3: “TICKET COUNT BY SEVERITY RATE”</vt:lpstr>
      <vt:lpstr>METRIC 4: “TICKETS BY PRIORITY”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tejas gowda</dc:creator>
  <cp:lastModifiedBy>tejas gowda</cp:lastModifiedBy>
  <cp:revision>3</cp:revision>
  <dcterms:created xsi:type="dcterms:W3CDTF">2025-10-29T07:07:15Z</dcterms:created>
  <dcterms:modified xsi:type="dcterms:W3CDTF">2025-11-10T07:01:39Z</dcterms:modified>
</cp:coreProperties>
</file>